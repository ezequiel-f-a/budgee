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7772400" cy="100584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298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Programación</a:t>
            </a:r>
            <a:r>
              <a:rPr dirty="0"/>
              <a:t> </a:t>
            </a:r>
            <a:r>
              <a:rPr spc="-5" dirty="0"/>
              <a:t>Estructurada</a:t>
            </a:r>
            <a:r>
              <a:rPr spc="10" dirty="0"/>
              <a:t> </a:t>
            </a:r>
            <a:r>
              <a:rPr dirty="0"/>
              <a:t>/</a:t>
            </a:r>
            <a:r>
              <a:rPr spc="-20" dirty="0"/>
              <a:t> </a:t>
            </a:r>
            <a:r>
              <a:rPr spc="-5" dirty="0"/>
              <a:t>Pág.</a:t>
            </a: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Programación</a:t>
            </a:r>
            <a:r>
              <a:rPr dirty="0"/>
              <a:t> </a:t>
            </a:r>
            <a:r>
              <a:rPr spc="-5" dirty="0"/>
              <a:t>Estructurada</a:t>
            </a:r>
            <a:r>
              <a:rPr spc="10" dirty="0"/>
              <a:t> </a:t>
            </a:r>
            <a:r>
              <a:rPr dirty="0"/>
              <a:t>/</a:t>
            </a:r>
            <a:r>
              <a:rPr spc="-20" dirty="0"/>
              <a:t> </a:t>
            </a:r>
            <a:r>
              <a:rPr spc="-5" dirty="0"/>
              <a:t>Pág.</a:t>
            </a: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Programación</a:t>
            </a:r>
            <a:r>
              <a:rPr dirty="0"/>
              <a:t> </a:t>
            </a:r>
            <a:r>
              <a:rPr spc="-5" dirty="0"/>
              <a:t>Estructurada</a:t>
            </a:r>
            <a:r>
              <a:rPr spc="10" dirty="0"/>
              <a:t> </a:t>
            </a:r>
            <a:r>
              <a:rPr dirty="0"/>
              <a:t>/</a:t>
            </a:r>
            <a:r>
              <a:rPr spc="-20" dirty="0"/>
              <a:t> </a:t>
            </a:r>
            <a:r>
              <a:rPr spc="-5" dirty="0"/>
              <a:t>Pág.</a:t>
            </a: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Programación</a:t>
            </a:r>
            <a:r>
              <a:rPr dirty="0"/>
              <a:t> </a:t>
            </a:r>
            <a:r>
              <a:rPr spc="-5" dirty="0"/>
              <a:t>Estructurada</a:t>
            </a:r>
            <a:r>
              <a:rPr spc="10" dirty="0"/>
              <a:t> </a:t>
            </a:r>
            <a:r>
              <a:rPr dirty="0"/>
              <a:t>/</a:t>
            </a:r>
            <a:r>
              <a:rPr spc="-20" dirty="0"/>
              <a:t> </a:t>
            </a:r>
            <a:r>
              <a:rPr spc="-5" dirty="0"/>
              <a:t>Pág.</a:t>
            </a: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Programación</a:t>
            </a:r>
            <a:r>
              <a:rPr dirty="0"/>
              <a:t> </a:t>
            </a:r>
            <a:r>
              <a:rPr spc="-5" dirty="0"/>
              <a:t>Estructurada</a:t>
            </a:r>
            <a:r>
              <a:rPr spc="10" dirty="0"/>
              <a:t> </a:t>
            </a:r>
            <a:r>
              <a:rPr dirty="0"/>
              <a:t>/</a:t>
            </a:r>
            <a:r>
              <a:rPr spc="-20" dirty="0"/>
              <a:t> </a:t>
            </a:r>
            <a:r>
              <a:rPr spc="-5" dirty="0"/>
              <a:t>Pág.</a:t>
            </a: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12750" y="21590"/>
            <a:ext cx="7224596" cy="96647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665" y="9142774"/>
            <a:ext cx="7692508" cy="79238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02180" y="1321053"/>
            <a:ext cx="3368039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6489" y="9479747"/>
            <a:ext cx="1843404" cy="1498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Programación</a:t>
            </a:r>
            <a:r>
              <a:rPr dirty="0"/>
              <a:t> </a:t>
            </a:r>
            <a:r>
              <a:rPr spc="-5" dirty="0"/>
              <a:t>Estructurada</a:t>
            </a:r>
            <a:r>
              <a:rPr spc="10" dirty="0"/>
              <a:t> </a:t>
            </a:r>
            <a:r>
              <a:rPr dirty="0"/>
              <a:t>/</a:t>
            </a:r>
            <a:r>
              <a:rPr spc="-20" dirty="0"/>
              <a:t> </a:t>
            </a:r>
            <a:r>
              <a:rPr spc="-5" dirty="0"/>
              <a:t>Pág.</a:t>
            </a: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82" y="464932"/>
            <a:ext cx="7767317" cy="95921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39339" y="2837814"/>
            <a:ext cx="213614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50" b="1" spc="-5" dirty="0">
                <a:solidFill>
                  <a:srgbClr val="001F5F"/>
                </a:solidFill>
                <a:latin typeface="Calibri"/>
                <a:cs typeface="Calibri"/>
              </a:rPr>
              <a:t>TRABAJO</a:t>
            </a:r>
            <a:r>
              <a:rPr sz="1750" b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750" b="1" spc="-5" dirty="0">
                <a:solidFill>
                  <a:srgbClr val="001F5F"/>
                </a:solidFill>
                <a:latin typeface="Calibri"/>
                <a:cs typeface="Calibri"/>
              </a:rPr>
              <a:t>DE</a:t>
            </a:r>
            <a:r>
              <a:rPr sz="1750" b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750" b="1" spc="-5" dirty="0">
                <a:solidFill>
                  <a:srgbClr val="001F5F"/>
                </a:solidFill>
                <a:latin typeface="Calibri"/>
                <a:cs typeface="Calibri"/>
              </a:rPr>
              <a:t>CAMPO </a:t>
            </a:r>
            <a:r>
              <a:rPr sz="2200" b="1" spc="-5" dirty="0">
                <a:solidFill>
                  <a:srgbClr val="001F5F"/>
                </a:solidFill>
                <a:latin typeface="Calibri"/>
                <a:cs typeface="Calibri"/>
              </a:rPr>
              <a:t>1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01239" y="3310254"/>
            <a:ext cx="22085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001F5F"/>
                </a:solidFill>
                <a:latin typeface="Calibri"/>
                <a:cs typeface="Calibri"/>
              </a:rPr>
              <a:t>PROPUES</a:t>
            </a:r>
            <a:r>
              <a:rPr sz="1600" spc="5" dirty="0">
                <a:solidFill>
                  <a:srgbClr val="001F5F"/>
                </a:solidFill>
                <a:latin typeface="Calibri"/>
                <a:cs typeface="Calibri"/>
              </a:rPr>
              <a:t>T</a:t>
            </a:r>
            <a:r>
              <a:rPr sz="1600" spc="-5" dirty="0">
                <a:solidFill>
                  <a:srgbClr val="001F5F"/>
                </a:solidFill>
                <a:latin typeface="Calibri"/>
                <a:cs typeface="Calibri"/>
              </a:rPr>
              <a:t>A</a:t>
            </a:r>
            <a:r>
              <a:rPr sz="1600" spc="-8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001F5F"/>
                </a:solidFill>
                <a:latin typeface="Calibri"/>
                <a:cs typeface="Calibri"/>
              </a:rPr>
              <a:t>DE</a:t>
            </a:r>
            <a:r>
              <a:rPr sz="1600" spc="-6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001F5F"/>
                </a:solidFill>
                <a:latin typeface="Calibri"/>
                <a:cs typeface="Calibri"/>
              </a:rPr>
              <a:t>P</a:t>
            </a:r>
            <a:r>
              <a:rPr sz="1600" spc="5" dirty="0">
                <a:solidFill>
                  <a:srgbClr val="001F5F"/>
                </a:solidFill>
                <a:latin typeface="Calibri"/>
                <a:cs typeface="Calibri"/>
              </a:rPr>
              <a:t>R</a:t>
            </a:r>
            <a:r>
              <a:rPr sz="1600" spc="-10" dirty="0">
                <a:solidFill>
                  <a:srgbClr val="001F5F"/>
                </a:solidFill>
                <a:latin typeface="Calibri"/>
                <a:cs typeface="Calibri"/>
              </a:rPr>
              <a:t>OYEC</a:t>
            </a:r>
            <a:r>
              <a:rPr sz="1600" dirty="0">
                <a:solidFill>
                  <a:srgbClr val="001F5F"/>
                </a:solidFill>
                <a:latin typeface="Calibri"/>
                <a:cs typeface="Calibri"/>
              </a:rPr>
              <a:t>T</a:t>
            </a:r>
            <a:r>
              <a:rPr sz="1600" spc="-5" dirty="0">
                <a:solidFill>
                  <a:srgbClr val="001F5F"/>
                </a:solidFill>
                <a:latin typeface="Calibri"/>
                <a:cs typeface="Calibri"/>
              </a:rPr>
              <a:t>O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23033" y="7673492"/>
            <a:ext cx="1076960" cy="35814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1000" b="1" spc="-35" dirty="0">
                <a:solidFill>
                  <a:srgbClr val="333463"/>
                </a:solidFill>
                <a:latin typeface="Calibri"/>
                <a:cs typeface="Calibri"/>
              </a:rPr>
              <a:t>A</a:t>
            </a:r>
            <a:r>
              <a:rPr sz="1000" b="1" spc="-25" dirty="0">
                <a:solidFill>
                  <a:srgbClr val="333463"/>
                </a:solidFill>
                <a:latin typeface="Calibri"/>
                <a:cs typeface="Calibri"/>
              </a:rPr>
              <a:t>u</a:t>
            </a:r>
            <a:r>
              <a:rPr sz="1000" b="1" spc="-30" dirty="0">
                <a:solidFill>
                  <a:srgbClr val="333463"/>
                </a:solidFill>
                <a:latin typeface="Calibri"/>
                <a:cs typeface="Calibri"/>
              </a:rPr>
              <a:t>t</a:t>
            </a:r>
            <a:r>
              <a:rPr sz="1000" b="1" spc="-25" dirty="0">
                <a:solidFill>
                  <a:srgbClr val="333463"/>
                </a:solidFill>
                <a:latin typeface="Calibri"/>
                <a:cs typeface="Calibri"/>
              </a:rPr>
              <a:t>o</a:t>
            </a:r>
            <a:r>
              <a:rPr sz="1000" b="1" spc="-5" dirty="0">
                <a:solidFill>
                  <a:srgbClr val="333463"/>
                </a:solidFill>
                <a:latin typeface="Calibri"/>
                <a:cs typeface="Calibri"/>
              </a:rPr>
              <a:t>r</a:t>
            </a:r>
            <a:r>
              <a:rPr sz="1000" b="1" spc="-45" dirty="0">
                <a:solidFill>
                  <a:srgbClr val="333463"/>
                </a:solidFill>
                <a:latin typeface="Calibri"/>
                <a:cs typeface="Calibri"/>
              </a:rPr>
              <a:t> </a:t>
            </a:r>
            <a:r>
              <a:rPr sz="1000" b="1" spc="-40" dirty="0">
                <a:solidFill>
                  <a:srgbClr val="333463"/>
                </a:solidFill>
                <a:latin typeface="Calibri"/>
                <a:cs typeface="Calibri"/>
              </a:rPr>
              <a:t>d</a:t>
            </a:r>
            <a:r>
              <a:rPr sz="1000" b="1" spc="-5" dirty="0">
                <a:solidFill>
                  <a:srgbClr val="333463"/>
                </a:solidFill>
                <a:latin typeface="Calibri"/>
                <a:cs typeface="Calibri"/>
              </a:rPr>
              <a:t>e</a:t>
            </a:r>
            <a:r>
              <a:rPr sz="1000" b="1" spc="-45" dirty="0">
                <a:solidFill>
                  <a:srgbClr val="333463"/>
                </a:solidFill>
                <a:latin typeface="Calibri"/>
                <a:cs typeface="Calibri"/>
              </a:rPr>
              <a:t> </a:t>
            </a:r>
            <a:r>
              <a:rPr sz="1000" b="1" spc="-30" dirty="0">
                <a:solidFill>
                  <a:srgbClr val="333463"/>
                </a:solidFill>
                <a:latin typeface="Calibri"/>
                <a:cs typeface="Calibri"/>
              </a:rPr>
              <a:t>c</a:t>
            </a:r>
            <a:r>
              <a:rPr sz="1000" b="1" spc="-40" dirty="0">
                <a:solidFill>
                  <a:srgbClr val="333463"/>
                </a:solidFill>
                <a:latin typeface="Calibri"/>
                <a:cs typeface="Calibri"/>
              </a:rPr>
              <a:t>o</a:t>
            </a:r>
            <a:r>
              <a:rPr sz="1000" b="1" spc="-25" dirty="0">
                <a:solidFill>
                  <a:srgbClr val="333463"/>
                </a:solidFill>
                <a:latin typeface="Calibri"/>
                <a:cs typeface="Calibri"/>
              </a:rPr>
              <a:t>n</a:t>
            </a:r>
            <a:r>
              <a:rPr sz="1000" b="1" spc="-30" dirty="0">
                <a:solidFill>
                  <a:srgbClr val="333463"/>
                </a:solidFill>
                <a:latin typeface="Calibri"/>
                <a:cs typeface="Calibri"/>
              </a:rPr>
              <a:t>te</a:t>
            </a:r>
            <a:r>
              <a:rPr sz="1000" b="1" spc="-25" dirty="0">
                <a:solidFill>
                  <a:srgbClr val="333463"/>
                </a:solidFill>
                <a:latin typeface="Calibri"/>
                <a:cs typeface="Calibri"/>
              </a:rPr>
              <a:t>n</a:t>
            </a:r>
            <a:r>
              <a:rPr sz="1000" b="1" spc="-35" dirty="0">
                <a:solidFill>
                  <a:srgbClr val="333463"/>
                </a:solidFill>
                <a:latin typeface="Calibri"/>
                <a:cs typeface="Calibri"/>
              </a:rPr>
              <a:t>i</a:t>
            </a:r>
            <a:r>
              <a:rPr sz="1000" b="1" spc="-40" dirty="0">
                <a:solidFill>
                  <a:srgbClr val="333463"/>
                </a:solidFill>
                <a:latin typeface="Calibri"/>
                <a:cs typeface="Calibri"/>
              </a:rPr>
              <a:t>d</a:t>
            </a:r>
            <a:r>
              <a:rPr sz="1000" b="1" spc="-25" dirty="0">
                <a:solidFill>
                  <a:srgbClr val="333463"/>
                </a:solidFill>
                <a:latin typeface="Calibri"/>
                <a:cs typeface="Calibri"/>
              </a:rPr>
              <a:t>o</a:t>
            </a:r>
            <a:r>
              <a:rPr sz="1000" b="1" spc="-35" dirty="0">
                <a:solidFill>
                  <a:srgbClr val="333463"/>
                </a:solidFill>
                <a:latin typeface="Calibri"/>
                <a:cs typeface="Calibri"/>
              </a:rPr>
              <a:t>s</a:t>
            </a:r>
            <a:r>
              <a:rPr sz="1000" b="1" spc="-5" dirty="0">
                <a:solidFill>
                  <a:srgbClr val="333463"/>
                </a:solidFill>
                <a:latin typeface="Calibri"/>
                <a:cs typeface="Calibri"/>
              </a:rPr>
              <a:t>: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spc="-25" dirty="0">
                <a:solidFill>
                  <a:srgbClr val="333463"/>
                </a:solidFill>
                <a:latin typeface="Calibri"/>
                <a:cs typeface="Calibri"/>
              </a:rPr>
              <a:t>N</a:t>
            </a:r>
            <a:r>
              <a:rPr sz="1000" spc="-30" dirty="0">
                <a:solidFill>
                  <a:srgbClr val="333463"/>
                </a:solidFill>
                <a:latin typeface="Calibri"/>
                <a:cs typeface="Calibri"/>
              </a:rPr>
              <a:t>icolá</a:t>
            </a:r>
            <a:r>
              <a:rPr sz="1000" spc="-5" dirty="0">
                <a:solidFill>
                  <a:srgbClr val="333463"/>
                </a:solidFill>
                <a:latin typeface="Calibri"/>
                <a:cs typeface="Calibri"/>
              </a:rPr>
              <a:t>s</a:t>
            </a:r>
            <a:r>
              <a:rPr sz="1000" spc="-40" dirty="0">
                <a:solidFill>
                  <a:srgbClr val="333463"/>
                </a:solidFill>
                <a:latin typeface="Calibri"/>
                <a:cs typeface="Calibri"/>
              </a:rPr>
              <a:t> </a:t>
            </a:r>
            <a:r>
              <a:rPr sz="1000" spc="-35" dirty="0">
                <a:solidFill>
                  <a:srgbClr val="333463"/>
                </a:solidFill>
                <a:latin typeface="Calibri"/>
                <a:cs typeface="Calibri"/>
              </a:rPr>
              <a:t>B</a:t>
            </a:r>
            <a:r>
              <a:rPr sz="1000" spc="-30" dirty="0">
                <a:solidFill>
                  <a:srgbClr val="333463"/>
                </a:solidFill>
                <a:latin typeface="Calibri"/>
                <a:cs typeface="Calibri"/>
              </a:rPr>
              <a:t>attagli</a:t>
            </a:r>
            <a:r>
              <a:rPr sz="1000" spc="-5" dirty="0">
                <a:solidFill>
                  <a:srgbClr val="333463"/>
                </a:solidFill>
                <a:latin typeface="Calibri"/>
                <a:cs typeface="Calibri"/>
              </a:rPr>
              <a:t>a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2750" y="21590"/>
            <a:ext cx="7224596" cy="96647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665" y="9142774"/>
            <a:ext cx="7692508" cy="79238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72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Trabajo</a:t>
            </a:r>
            <a:r>
              <a:rPr spc="-30" dirty="0"/>
              <a:t> </a:t>
            </a:r>
            <a:r>
              <a:rPr spc="-5" dirty="0"/>
              <a:t>de</a:t>
            </a:r>
            <a:r>
              <a:rPr spc="-20" dirty="0"/>
              <a:t> </a:t>
            </a:r>
            <a:r>
              <a:rPr spc="-10" dirty="0"/>
              <a:t>Campo</a:t>
            </a:r>
            <a:r>
              <a:rPr spc="-25" dirty="0"/>
              <a:t> </a:t>
            </a:r>
            <a:r>
              <a:rPr spc="-5" dirty="0"/>
              <a:t>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Programación</a:t>
            </a:r>
            <a:r>
              <a:rPr dirty="0"/>
              <a:t> </a:t>
            </a:r>
            <a:r>
              <a:rPr spc="-5" dirty="0"/>
              <a:t>Estructurada</a:t>
            </a:r>
            <a:r>
              <a:rPr spc="10" dirty="0"/>
              <a:t> </a:t>
            </a:r>
            <a:r>
              <a:rPr dirty="0"/>
              <a:t>/</a:t>
            </a:r>
            <a:r>
              <a:rPr spc="-20" dirty="0"/>
              <a:t> </a:t>
            </a:r>
            <a:r>
              <a:rPr spc="-5" dirty="0"/>
              <a:t>Pág.</a:t>
            </a:r>
            <a:fld id="{81D60167-4931-47E6-BA6A-407CBD079E47}" type="slidenum">
              <a:rPr spc="-5" dirty="0"/>
              <a:t>2</a:t>
            </a:fld>
            <a:endParaRPr spc="-5" dirty="0"/>
          </a:p>
        </p:txBody>
      </p:sp>
      <p:sp>
        <p:nvSpPr>
          <p:cNvPr id="5" name="object 5"/>
          <p:cNvSpPr txBox="1"/>
          <p:nvPr/>
        </p:nvSpPr>
        <p:spPr>
          <a:xfrm>
            <a:off x="1606041" y="1886457"/>
            <a:ext cx="45656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AR" sz="3600" b="1" dirty="0">
                <a:latin typeface="Calibri"/>
                <a:cs typeface="Calibri"/>
              </a:rPr>
              <a:t>BUDGEE</a:t>
            </a:r>
            <a:endParaRPr sz="3600" b="1" dirty="0">
              <a:latin typeface="Calibri"/>
              <a:cs typeface="Calibri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55C7755-95DF-4C20-9636-683B3A9B0260}"/>
              </a:ext>
            </a:extLst>
          </p:cNvPr>
          <p:cNvSpPr txBox="1"/>
          <p:nvPr/>
        </p:nvSpPr>
        <p:spPr>
          <a:xfrm>
            <a:off x="1333754" y="2967395"/>
            <a:ext cx="510489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Apellido y Nombre: </a:t>
            </a:r>
            <a:r>
              <a:rPr lang="es-ES" sz="1400" dirty="0"/>
              <a:t>Amorosino Ezequiel</a:t>
            </a:r>
          </a:p>
          <a:p>
            <a:endParaRPr lang="es-ES" sz="1400" b="1" dirty="0"/>
          </a:p>
          <a:p>
            <a:r>
              <a:rPr lang="es-ES" sz="1400" b="1" dirty="0"/>
              <a:t>Documento:  </a:t>
            </a:r>
            <a:r>
              <a:rPr lang="es-ES" sz="1400" dirty="0"/>
              <a:t>42119116</a:t>
            </a:r>
          </a:p>
          <a:p>
            <a:endParaRPr lang="es-ES" sz="1400" b="1" dirty="0"/>
          </a:p>
          <a:p>
            <a:r>
              <a:rPr lang="es-ES" sz="1400" b="1" dirty="0"/>
              <a:t>Profesor: </a:t>
            </a:r>
            <a:r>
              <a:rPr lang="es-ES" sz="1400" dirty="0" err="1"/>
              <a:t>Weingand</a:t>
            </a:r>
            <a:r>
              <a:rPr lang="es-ES" sz="1400" dirty="0"/>
              <a:t> Gastón</a:t>
            </a:r>
          </a:p>
          <a:p>
            <a:endParaRPr lang="es-ES" sz="1400" b="1" dirty="0"/>
          </a:p>
          <a:p>
            <a:r>
              <a:rPr lang="es-ES" sz="1400" b="1" dirty="0"/>
              <a:t>Campus: </a:t>
            </a:r>
            <a:r>
              <a:rPr lang="es-ES" sz="1400" dirty="0"/>
              <a:t>Práctica profesional</a:t>
            </a:r>
          </a:p>
          <a:p>
            <a:endParaRPr lang="es-ES" sz="1400" b="1" dirty="0"/>
          </a:p>
          <a:p>
            <a:r>
              <a:rPr lang="es-ES" sz="1400" b="1" dirty="0"/>
              <a:t>Fecha: </a:t>
            </a:r>
            <a:r>
              <a:rPr lang="es-ES" sz="1400" dirty="0"/>
              <a:t>30-3-2021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1693" y="990600"/>
            <a:ext cx="6689013" cy="5391861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spcBef>
                <a:spcPts val="200"/>
              </a:spcBef>
            </a:pPr>
            <a:r>
              <a:rPr sz="1600" spc="-5" dirty="0">
                <a:solidFill>
                  <a:srgbClr val="2D74B5"/>
                </a:solidFill>
                <a:latin typeface="Calibri Light"/>
                <a:cs typeface="Calibri Light"/>
              </a:rPr>
              <a:t>Propuesta</a:t>
            </a:r>
            <a:r>
              <a:rPr sz="1600" spc="-20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600" spc="-5" dirty="0">
                <a:solidFill>
                  <a:srgbClr val="2D74B5"/>
                </a:solidFill>
                <a:latin typeface="Calibri Light"/>
                <a:cs typeface="Calibri Light"/>
              </a:rPr>
              <a:t>de</a:t>
            </a:r>
            <a:r>
              <a:rPr sz="1600" spc="-15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600" spc="-5" dirty="0">
                <a:solidFill>
                  <a:srgbClr val="2D74B5"/>
                </a:solidFill>
                <a:latin typeface="Calibri Light"/>
                <a:cs typeface="Calibri Light"/>
              </a:rPr>
              <a:t>Proyecto</a:t>
            </a:r>
            <a:endParaRPr lang="es-AR" sz="1600" spc="-5" dirty="0">
              <a:solidFill>
                <a:srgbClr val="2D74B5"/>
              </a:solidFill>
              <a:latin typeface="Calibri Light"/>
              <a:cs typeface="Calibri Light"/>
            </a:endParaRPr>
          </a:p>
          <a:p>
            <a:pPr marL="12700">
              <a:spcBef>
                <a:spcPts val="200"/>
              </a:spcBef>
            </a:pPr>
            <a:endParaRPr sz="1600" dirty="0">
              <a:latin typeface="Calibri Light"/>
              <a:cs typeface="Calibri Light"/>
            </a:endParaRPr>
          </a:p>
          <a:p>
            <a:pPr marL="12700">
              <a:spcBef>
                <a:spcPts val="200"/>
              </a:spcBef>
            </a:pPr>
            <a:r>
              <a:rPr sz="1300" spc="-5" dirty="0">
                <a:solidFill>
                  <a:srgbClr val="2D74B5"/>
                </a:solidFill>
                <a:latin typeface="Calibri Light"/>
                <a:cs typeface="Calibri Light"/>
              </a:rPr>
              <a:t>Título</a:t>
            </a:r>
            <a:r>
              <a:rPr sz="1300" spc="-30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300" spc="-5" dirty="0">
                <a:solidFill>
                  <a:srgbClr val="2D74B5"/>
                </a:solidFill>
                <a:latin typeface="Calibri Light"/>
                <a:cs typeface="Calibri Light"/>
              </a:rPr>
              <a:t>del</a:t>
            </a:r>
            <a:r>
              <a:rPr sz="1300" spc="-15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300" spc="-5" dirty="0">
                <a:solidFill>
                  <a:srgbClr val="2D74B5"/>
                </a:solidFill>
                <a:latin typeface="Calibri Light"/>
                <a:cs typeface="Calibri Light"/>
              </a:rPr>
              <a:t>proyecto:</a:t>
            </a:r>
            <a:endParaRPr sz="1300" dirty="0">
              <a:latin typeface="Calibri Light"/>
              <a:cs typeface="Calibri Light"/>
            </a:endParaRPr>
          </a:p>
          <a:p>
            <a:pPr marL="12700">
              <a:spcBef>
                <a:spcPts val="200"/>
              </a:spcBef>
            </a:pPr>
            <a:r>
              <a:rPr lang="es-AR" sz="1100" dirty="0">
                <a:latin typeface="Calibri"/>
                <a:cs typeface="Calibri"/>
              </a:rPr>
              <a:t>BUDGEE. Proviene de una alteración fonética sobre la palabra “Budget”, que en inglés significa “presupuesto”.</a:t>
            </a:r>
          </a:p>
          <a:p>
            <a:pPr marL="12700">
              <a:spcBef>
                <a:spcPts val="200"/>
              </a:spcBef>
            </a:pPr>
            <a:endParaRPr sz="1100" dirty="0">
              <a:latin typeface="Calibri"/>
              <a:cs typeface="Calibri"/>
            </a:endParaRPr>
          </a:p>
          <a:p>
            <a:pPr marL="12700">
              <a:spcBef>
                <a:spcPts val="200"/>
              </a:spcBef>
            </a:pPr>
            <a:r>
              <a:rPr sz="1300" spc="-5" dirty="0">
                <a:solidFill>
                  <a:srgbClr val="2D74B5"/>
                </a:solidFill>
                <a:latin typeface="Calibri Light"/>
                <a:cs typeface="Calibri Light"/>
              </a:rPr>
              <a:t>Resumen:</a:t>
            </a:r>
            <a:endParaRPr sz="1300" dirty="0">
              <a:latin typeface="Calibri Light"/>
              <a:cs typeface="Calibri Light"/>
            </a:endParaRPr>
          </a:p>
          <a:p>
            <a:pPr marL="12700" marR="5080">
              <a:spcBef>
                <a:spcPts val="200"/>
              </a:spcBef>
            </a:pPr>
            <a:r>
              <a:rPr lang="es-AR" sz="1100" dirty="0">
                <a:latin typeface="Calibri"/>
                <a:cs typeface="Calibri"/>
              </a:rPr>
              <a:t>El software tiene como propósito la gestión y administración contable del usuario, para facilitar su toma de decisiones a la hora de realizar gastos o prevenir necesidades de tener más ingresos. Está orientado a algo personal, no empresarial.</a:t>
            </a:r>
          </a:p>
          <a:p>
            <a:pPr marL="12700" marR="5080">
              <a:spcBef>
                <a:spcPts val="200"/>
              </a:spcBef>
            </a:pPr>
            <a:endParaRPr lang="es-AR" sz="1100" dirty="0">
              <a:latin typeface="Calibri"/>
              <a:cs typeface="Calibri"/>
            </a:endParaRPr>
          </a:p>
          <a:p>
            <a:pPr marL="12700">
              <a:spcBef>
                <a:spcPts val="200"/>
              </a:spcBef>
            </a:pPr>
            <a:r>
              <a:rPr sz="1300" spc="-5" dirty="0" err="1">
                <a:solidFill>
                  <a:srgbClr val="2D74B5"/>
                </a:solidFill>
                <a:latin typeface="Calibri Light"/>
                <a:cs typeface="Calibri Light"/>
              </a:rPr>
              <a:t>Motivación</a:t>
            </a:r>
            <a:r>
              <a:rPr sz="1300" spc="-5" dirty="0">
                <a:solidFill>
                  <a:srgbClr val="2D74B5"/>
                </a:solidFill>
                <a:latin typeface="Calibri Light"/>
                <a:cs typeface="Calibri Light"/>
              </a:rPr>
              <a:t>:</a:t>
            </a:r>
            <a:endParaRPr sz="1300" dirty="0">
              <a:latin typeface="Calibri Light"/>
              <a:cs typeface="Calibri Light"/>
            </a:endParaRPr>
          </a:p>
          <a:p>
            <a:pPr marL="12700" marR="5080">
              <a:spcBef>
                <a:spcPts val="200"/>
              </a:spcBef>
            </a:pPr>
            <a:r>
              <a:rPr lang="es-AR" sz="1100" dirty="0">
                <a:latin typeface="Calibri"/>
                <a:cs typeface="Calibri"/>
              </a:rPr>
              <a:t>La motivación que tuve para desarrollar este software, se remonta a aquellos </a:t>
            </a:r>
            <a:r>
              <a:rPr lang="es-AR" sz="1100" dirty="0" err="1">
                <a:latin typeface="Calibri"/>
                <a:cs typeface="Calibri"/>
              </a:rPr>
              <a:t>dias</a:t>
            </a:r>
            <a:r>
              <a:rPr lang="es-AR" sz="1100" dirty="0">
                <a:latin typeface="Calibri"/>
                <a:cs typeface="Calibri"/>
              </a:rPr>
              <a:t> en los que tuve mi primer ingreso independiente; producto de haber conseguido un trabajo. Ya que comencé a tener varios gastos personales, vi sumamente útil una aplicación que me permitiera administrar mi economía.</a:t>
            </a:r>
          </a:p>
          <a:p>
            <a:pPr marL="12700" marR="5080">
              <a:spcBef>
                <a:spcPts val="200"/>
              </a:spcBef>
            </a:pPr>
            <a:endParaRPr sz="1100" dirty="0">
              <a:latin typeface="Calibri"/>
              <a:cs typeface="Calibri"/>
            </a:endParaRPr>
          </a:p>
          <a:p>
            <a:pPr marL="12700">
              <a:spcBef>
                <a:spcPts val="200"/>
              </a:spcBef>
            </a:pPr>
            <a:r>
              <a:rPr sz="1300" spc="-5" dirty="0">
                <a:solidFill>
                  <a:srgbClr val="2D74B5"/>
                </a:solidFill>
                <a:latin typeface="Calibri Light"/>
                <a:cs typeface="Calibri Light"/>
              </a:rPr>
              <a:t>Descripción</a:t>
            </a:r>
            <a:r>
              <a:rPr sz="1300" spc="-10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300" spc="-5" dirty="0">
                <a:solidFill>
                  <a:srgbClr val="2D74B5"/>
                </a:solidFill>
                <a:latin typeface="Calibri Light"/>
                <a:cs typeface="Calibri Light"/>
              </a:rPr>
              <a:t>funcional y</a:t>
            </a:r>
            <a:r>
              <a:rPr sz="1300" spc="5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300" spc="-5" dirty="0">
                <a:solidFill>
                  <a:srgbClr val="2D74B5"/>
                </a:solidFill>
                <a:latin typeface="Calibri Light"/>
                <a:cs typeface="Calibri Light"/>
              </a:rPr>
              <a:t>alcance:</a:t>
            </a:r>
            <a:endParaRPr sz="1300" dirty="0">
              <a:latin typeface="Calibri Light"/>
              <a:cs typeface="Calibri Light"/>
            </a:endParaRPr>
          </a:p>
          <a:p>
            <a:pPr marL="12700" marR="5080">
              <a:spcBef>
                <a:spcPts val="200"/>
              </a:spcBef>
            </a:pPr>
            <a:r>
              <a:rPr lang="es-ES" sz="1100" dirty="0">
                <a:latin typeface="Calibri"/>
                <a:cs typeface="Calibri"/>
              </a:rPr>
              <a:t>El usuario será capaz de registrar transacciones tanto de ganancia como de perdida. También podrá preestablecer transacciones para tener plantillas y a su vez, registrar automáticamente estas transacciones con cierta frecuencia (diaria, semanal, mensual o anual).</a:t>
            </a:r>
          </a:p>
          <a:p>
            <a:pPr marL="12700" marR="5080">
              <a:spcBef>
                <a:spcPts val="200"/>
              </a:spcBef>
            </a:pPr>
            <a:r>
              <a:rPr lang="es-ES" sz="1100" dirty="0">
                <a:latin typeface="Calibri"/>
                <a:cs typeface="Calibri"/>
              </a:rPr>
              <a:t>El monto de las transacciones podrá ser establecido como fijo o calculado (el calculado trata de una ecuación donde el usuario podrá incluso usar variables tales como el balance de la cuenta o el balance global).</a:t>
            </a:r>
          </a:p>
          <a:p>
            <a:pPr marL="12700" marR="5080">
              <a:spcBef>
                <a:spcPts val="200"/>
              </a:spcBef>
            </a:pPr>
            <a:r>
              <a:rPr lang="es-ES" sz="1100" dirty="0">
                <a:latin typeface="Calibri"/>
                <a:cs typeface="Calibri"/>
              </a:rPr>
              <a:t>El usuario también podrá supervisar su progreso en la sección de estadísticas, que proporcionará información resumida sobre su historial.</a:t>
            </a:r>
          </a:p>
          <a:p>
            <a:pPr marL="12700" marR="5080">
              <a:spcBef>
                <a:spcPts val="200"/>
              </a:spcBef>
            </a:pPr>
            <a:r>
              <a:rPr lang="es-ES" sz="1100" dirty="0">
                <a:latin typeface="Calibri"/>
                <a:cs typeface="Calibri"/>
              </a:rPr>
              <a:t>El software posee la capacidad de registrar múltiples usuarios. Cada usuario podrá crear un indeterminado número de cuentas.</a:t>
            </a:r>
          </a:p>
          <a:p>
            <a:pPr marL="12700" marR="5080">
              <a:spcBef>
                <a:spcPts val="200"/>
              </a:spcBef>
            </a:pPr>
            <a:endParaRPr lang="es-ES" sz="1100" dirty="0">
              <a:latin typeface="Calibri"/>
              <a:cs typeface="Calibri"/>
            </a:endParaRPr>
          </a:p>
          <a:p>
            <a:pPr marL="12700">
              <a:spcBef>
                <a:spcPts val="200"/>
              </a:spcBef>
            </a:pPr>
            <a:r>
              <a:rPr sz="1300" spc="-5" dirty="0" err="1">
                <a:solidFill>
                  <a:srgbClr val="2D74B5"/>
                </a:solidFill>
                <a:latin typeface="Calibri Light"/>
                <a:cs typeface="Calibri Light"/>
              </a:rPr>
              <a:t>Procesos</a:t>
            </a:r>
            <a:r>
              <a:rPr sz="1300" spc="-20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300" spc="-5" dirty="0">
                <a:solidFill>
                  <a:srgbClr val="2D74B5"/>
                </a:solidFill>
                <a:latin typeface="Calibri Light"/>
                <a:cs typeface="Calibri Light"/>
              </a:rPr>
              <a:t>de</a:t>
            </a:r>
            <a:r>
              <a:rPr sz="1300" spc="-20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300" spc="-5" dirty="0">
                <a:solidFill>
                  <a:srgbClr val="2D74B5"/>
                </a:solidFill>
                <a:latin typeface="Calibri Light"/>
                <a:cs typeface="Calibri Light"/>
              </a:rPr>
              <a:t>negocio</a:t>
            </a:r>
            <a:r>
              <a:rPr sz="1300" spc="-15" dirty="0">
                <a:solidFill>
                  <a:srgbClr val="2D74B5"/>
                </a:solidFill>
                <a:latin typeface="Calibri Light"/>
                <a:cs typeface="Calibri Light"/>
              </a:rPr>
              <a:t> </a:t>
            </a:r>
            <a:r>
              <a:rPr sz="1300" spc="-5" dirty="0" err="1">
                <a:solidFill>
                  <a:srgbClr val="2D74B5"/>
                </a:solidFill>
                <a:latin typeface="Calibri Light"/>
                <a:cs typeface="Calibri Light"/>
              </a:rPr>
              <a:t>involucrados</a:t>
            </a:r>
            <a:r>
              <a:rPr sz="1300" spc="-5" dirty="0">
                <a:solidFill>
                  <a:srgbClr val="2D74B5"/>
                </a:solidFill>
                <a:latin typeface="Calibri Light"/>
                <a:cs typeface="Calibri Light"/>
              </a:rPr>
              <a:t>:</a:t>
            </a:r>
            <a:endParaRPr lang="es-AR" sz="11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Programación</a:t>
            </a:r>
            <a:r>
              <a:rPr dirty="0"/>
              <a:t> </a:t>
            </a:r>
            <a:r>
              <a:rPr spc="-5" dirty="0"/>
              <a:t>Estructurada</a:t>
            </a:r>
            <a:r>
              <a:rPr spc="10" dirty="0"/>
              <a:t> </a:t>
            </a:r>
            <a:r>
              <a:rPr dirty="0"/>
              <a:t>/</a:t>
            </a:r>
            <a:r>
              <a:rPr spc="-20" dirty="0"/>
              <a:t> </a:t>
            </a:r>
            <a:r>
              <a:rPr spc="-5" dirty="0"/>
              <a:t>Pág.</a:t>
            </a:r>
            <a:fld id="{81D60167-4931-47E6-BA6A-407CBD079E47}" type="slidenum">
              <a:rPr spc="-5" dirty="0"/>
              <a:t>3</a:t>
            </a:fld>
            <a:endParaRPr spc="-5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595A5AC-3577-4C77-8F5B-2B6145BD50C0}"/>
              </a:ext>
            </a:extLst>
          </p:cNvPr>
          <p:cNvSpPr txBox="1"/>
          <p:nvPr/>
        </p:nvSpPr>
        <p:spPr>
          <a:xfrm>
            <a:off x="465493" y="6405265"/>
            <a:ext cx="7002107" cy="2281535"/>
          </a:xfrm>
          <a:prstGeom prst="rect">
            <a:avLst/>
          </a:prstGeom>
          <a:noFill/>
        </p:spPr>
        <p:txBody>
          <a:bodyPr wrap="square" numCol="4">
            <a:noAutofit/>
          </a:bodyPr>
          <a:lstStyle/>
          <a:p>
            <a:pPr marL="184150" marR="6985" lvl="0" indent="-171450" algn="l" defTabSz="914400" rtl="0" eaLnBrk="1" fontAlgn="auto" latinLnBrk="0" hangingPunct="1"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A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Registrar transacción concretada</a:t>
            </a:r>
          </a:p>
          <a:p>
            <a:pPr marL="184150" marR="6985" lvl="0" indent="-171450" algn="l" defTabSz="914400" rtl="0" eaLnBrk="1" fontAlgn="auto" latinLnBrk="0" hangingPunct="1"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A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Registrar transacción pendiente</a:t>
            </a:r>
          </a:p>
          <a:p>
            <a:pPr marL="184150" marR="6985" lvl="0" indent="-171450" algn="l" defTabSz="914400" rtl="0" eaLnBrk="1" fontAlgn="auto" latinLnBrk="0" hangingPunct="1"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A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Registrar transacción preprogramada</a:t>
            </a:r>
          </a:p>
          <a:p>
            <a:pPr marL="184150" marR="6985" lvl="0" indent="-171450" algn="l" defTabSz="914400" rtl="0" eaLnBrk="1" fontAlgn="auto" latinLnBrk="0" hangingPunct="1"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A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Registrar plantilla de transacción</a:t>
            </a:r>
          </a:p>
          <a:p>
            <a:pPr marL="184150" marR="6985" lvl="0" indent="-171450" algn="l" defTabSz="914400" rtl="0" eaLnBrk="1" fontAlgn="auto" latinLnBrk="0" hangingPunct="1"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A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Registrar recordatorio</a:t>
            </a:r>
          </a:p>
          <a:p>
            <a:pPr marL="184150" marR="6985" lvl="0" indent="-171450" algn="l" defTabSz="914400" rtl="0" eaLnBrk="1" fontAlgn="auto" latinLnBrk="0" hangingPunct="1"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A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Registrar presupuesto</a:t>
            </a:r>
          </a:p>
          <a:p>
            <a:pPr marL="184150" marR="6985" lvl="0" indent="-171450" algn="l" defTabSz="914400" rtl="0" eaLnBrk="1" fontAlgn="auto" latinLnBrk="0" hangingPunct="1"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A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Registrar categoría</a:t>
            </a:r>
          </a:p>
          <a:p>
            <a:pPr marL="184150" marR="6985" lvl="0" indent="-171450" algn="l" defTabSz="914400" rtl="0" eaLnBrk="1" fontAlgn="auto" latinLnBrk="0" hangingPunct="1"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A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Registrar etiqueta</a:t>
            </a:r>
          </a:p>
          <a:p>
            <a:pPr marL="184150" marR="6985" lvl="0" indent="-171450" algn="l" defTabSz="914400" rtl="0" eaLnBrk="1" fontAlgn="auto" latinLnBrk="0" hangingPunct="1"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A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Borrar transacción concretada</a:t>
            </a:r>
          </a:p>
          <a:p>
            <a:pPr marL="184150" marR="6985" lvl="0" indent="-171450" algn="l" defTabSz="914400" rtl="0" eaLnBrk="1" fontAlgn="auto" latinLnBrk="0" hangingPunct="1"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A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Borrar transacción pendiente</a:t>
            </a:r>
          </a:p>
          <a:p>
            <a:pPr marL="184150" marR="6985" lvl="0" indent="-171450" algn="l" defTabSz="914400" rtl="0" eaLnBrk="1" fontAlgn="auto" latinLnBrk="0" hangingPunct="1"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A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Borrar transacción preprogramada</a:t>
            </a:r>
          </a:p>
          <a:p>
            <a:pPr marL="184150" marR="6985" lvl="0" indent="-171450" algn="l" defTabSz="914400" rtl="0" eaLnBrk="1" fontAlgn="auto" latinLnBrk="0" hangingPunct="1"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A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Borrar plantilla de transacción</a:t>
            </a:r>
          </a:p>
          <a:p>
            <a:pPr marL="184150" marR="6985" lvl="0" indent="-171450" algn="l" defTabSz="914400" rtl="0" eaLnBrk="1" fontAlgn="auto" latinLnBrk="0" hangingPunct="1"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A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Borrar recordatorio</a:t>
            </a:r>
          </a:p>
          <a:p>
            <a:pPr marL="184150" marR="6985" lvl="0" indent="-171450" algn="l" defTabSz="914400" rtl="0" eaLnBrk="1" fontAlgn="auto" latinLnBrk="0" hangingPunct="1"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A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Borrar presupuesto</a:t>
            </a:r>
          </a:p>
          <a:p>
            <a:pPr marL="184150" marR="6985" lvl="0" indent="-171450" algn="l" defTabSz="914400" rtl="0" eaLnBrk="1" fontAlgn="auto" latinLnBrk="0" hangingPunct="1"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A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Borrar categoría</a:t>
            </a:r>
          </a:p>
          <a:p>
            <a:pPr marL="184150" marR="6985" lvl="0" indent="-171450" algn="l" defTabSz="914400" rtl="0" eaLnBrk="1" fontAlgn="auto" latinLnBrk="0" hangingPunct="1"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A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Borrar etiqueta</a:t>
            </a:r>
          </a:p>
          <a:p>
            <a:pPr marL="184150" marR="6985" lvl="0" indent="-171450" algn="l" defTabSz="914400" rtl="0" eaLnBrk="1" fontAlgn="auto" latinLnBrk="0" hangingPunct="1"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A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Modificar transacción concretada</a:t>
            </a:r>
          </a:p>
          <a:p>
            <a:pPr marL="184150" marR="6985" lvl="0" indent="-171450" algn="l" defTabSz="914400" rtl="0" eaLnBrk="1" fontAlgn="auto" latinLnBrk="0" hangingPunct="1"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A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Modificar transacción pendiente</a:t>
            </a:r>
          </a:p>
          <a:p>
            <a:pPr marL="184150" marR="6985" lvl="0" indent="-171450" algn="l" defTabSz="914400" rtl="0" eaLnBrk="1" fontAlgn="auto" latinLnBrk="0" hangingPunct="1"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A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Modificar transacción preprogramada</a:t>
            </a:r>
          </a:p>
          <a:p>
            <a:pPr marL="184150" marR="6985" lvl="0" indent="-171450" algn="l" defTabSz="914400" rtl="0" eaLnBrk="1" fontAlgn="auto" latinLnBrk="0" hangingPunct="1"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A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Modificar plantilla de transacción</a:t>
            </a:r>
          </a:p>
          <a:p>
            <a:pPr marL="184150" marR="6985" lvl="0" indent="-171450" algn="l" defTabSz="914400" rtl="0" eaLnBrk="1" fontAlgn="auto" latinLnBrk="0" hangingPunct="1"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A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Modificar recordatorio</a:t>
            </a:r>
          </a:p>
          <a:p>
            <a:pPr marL="184150" marR="6985" lvl="0" indent="-171450" algn="l" defTabSz="914400" rtl="0" eaLnBrk="1" fontAlgn="auto" latinLnBrk="0" hangingPunct="1"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A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Modificar presupuesto</a:t>
            </a:r>
          </a:p>
          <a:p>
            <a:pPr marL="184150" marR="6985" lvl="0" indent="-171450" algn="l" defTabSz="914400" rtl="0" eaLnBrk="1" fontAlgn="auto" latinLnBrk="0" hangingPunct="1"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A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Modificar categoría</a:t>
            </a:r>
          </a:p>
          <a:p>
            <a:pPr marL="184150" marR="6985" lvl="0" indent="-171450" algn="l" defTabSz="914400" rtl="0" eaLnBrk="1" fontAlgn="auto" latinLnBrk="0" hangingPunct="1"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AR" sz="1100" dirty="0">
                <a:solidFill>
                  <a:prstClr val="black"/>
                </a:solidFill>
                <a:latin typeface="Calibri"/>
                <a:cs typeface="Calibri"/>
              </a:rPr>
              <a:t>Modificar etiqueta</a:t>
            </a:r>
          </a:p>
          <a:p>
            <a:pPr marL="184150" marR="6985" lvl="0" indent="-171450" algn="l" defTabSz="914400" rtl="0" eaLnBrk="1" fontAlgn="auto" latinLnBrk="0" hangingPunct="1"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AR" sz="1100" dirty="0">
                <a:solidFill>
                  <a:prstClr val="black"/>
                </a:solidFill>
                <a:latin typeface="Calibri"/>
                <a:cs typeface="Calibri"/>
              </a:rPr>
              <a:t>Administrar notificaciones</a:t>
            </a:r>
            <a:endParaRPr kumimoji="0" lang="es-A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84150" marR="6985" lvl="0" indent="-171450" algn="l" defTabSz="914400" rtl="0" eaLnBrk="1" fontAlgn="auto" latinLnBrk="0" hangingPunct="1"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A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Administrar estadísticas</a:t>
            </a:r>
          </a:p>
          <a:p>
            <a:pPr marL="184150" marR="6985" lvl="0" indent="-171450" algn="l" defTabSz="914400" rtl="0" eaLnBrk="1" fontAlgn="auto" latinLnBrk="0" hangingPunct="1"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AR" sz="1100" dirty="0">
                <a:solidFill>
                  <a:prstClr val="black"/>
                </a:solidFill>
                <a:latin typeface="Calibri"/>
                <a:cs typeface="Calibri"/>
              </a:rPr>
              <a:t>Iniciar sesión</a:t>
            </a:r>
          </a:p>
          <a:p>
            <a:pPr marL="184150" marR="6985" lvl="0" indent="-171450" algn="l" defTabSz="914400" rtl="0" eaLnBrk="1" fontAlgn="auto" latinLnBrk="0" hangingPunct="1"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AR" sz="1100" dirty="0">
                <a:solidFill>
                  <a:prstClr val="black"/>
                </a:solidFill>
                <a:latin typeface="Calibri"/>
                <a:cs typeface="Calibri"/>
              </a:rPr>
              <a:t>Cerrar sesión</a:t>
            </a:r>
          </a:p>
          <a:p>
            <a:pPr marL="184150" marR="6985" lvl="0" indent="-171450" algn="l" defTabSz="914400" rtl="0" eaLnBrk="1" fontAlgn="auto" latinLnBrk="0" hangingPunct="1"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A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Registrar usuario</a:t>
            </a:r>
          </a:p>
          <a:p>
            <a:pPr marL="184150" marR="6985" lvl="0" indent="-171450" algn="l" defTabSz="914400" rtl="0" eaLnBrk="1" fontAlgn="auto" latinLnBrk="0" hangingPunct="1"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AR" sz="1100" dirty="0">
                <a:solidFill>
                  <a:prstClr val="black"/>
                </a:solidFill>
                <a:latin typeface="Calibri"/>
                <a:cs typeface="Calibri"/>
              </a:rPr>
              <a:t>Cambiar lenguaje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C7AA30A-6E30-4A6E-8E7D-291B526D00C6}"/>
              </a:ext>
            </a:extLst>
          </p:cNvPr>
          <p:cNvSpPr txBox="1"/>
          <p:nvPr/>
        </p:nvSpPr>
        <p:spPr>
          <a:xfrm>
            <a:off x="465493" y="8715281"/>
            <a:ext cx="3886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lang="es-ES" sz="1200" spc="-5" dirty="0">
                <a:solidFill>
                  <a:srgbClr val="2D74B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Información:</a:t>
            </a:r>
            <a:br>
              <a:rPr lang="es-ES" sz="1200" spc="-5" dirty="0">
                <a:solidFill>
                  <a:srgbClr val="2D74B5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s-ES" sz="1100" spc="-5" dirty="0">
                <a:latin typeface="Calibri" panose="020F0502020204030204" pitchFamily="34" charset="0"/>
                <a:cs typeface="Calibri" panose="020F0502020204030204" pitchFamily="34" charset="0"/>
              </a:rPr>
              <a:t>Se presentará en la siguiente diapositiva.</a:t>
            </a:r>
            <a:endParaRPr lang="es-ES" sz="1200" spc="-5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21C30AA5-A6D6-433C-B0CB-5BA6DA20DF4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7" b="-5218"/>
          <a:stretch/>
        </p:blipFill>
        <p:spPr>
          <a:xfrm>
            <a:off x="1878452" y="990600"/>
            <a:ext cx="4015496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420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628</TotalTime>
  <Words>390</Words>
  <Application>Microsoft Office PowerPoint</Application>
  <PresentationFormat>Personalizado</PresentationFormat>
  <Paragraphs>66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Verdana</vt:lpstr>
      <vt:lpstr>Office Theme</vt:lpstr>
      <vt:lpstr>TRABAJO DE CAMPO 1</vt:lpstr>
      <vt:lpstr>Trabajo de Campo 1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TRABAJO DE CAMPO 1</dc:title>
  <dc:creator>Bruzzese, Paula</dc:creator>
  <cp:lastModifiedBy>Ezequiel Amorosino</cp:lastModifiedBy>
  <cp:revision>39</cp:revision>
  <dcterms:created xsi:type="dcterms:W3CDTF">2021-03-30T22:11:08Z</dcterms:created>
  <dcterms:modified xsi:type="dcterms:W3CDTF">2021-05-22T02:24:14Z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2020-07-09T00:00:00Z</vt:filetime>
  </property>
  <property fmtid="{D5CDD505-2E9C-101B-9397-08002B2CF9AE}" pid="3" name="Creator">
    <vt:lpwstr>Microsoft® Word para Microsoft 365</vt:lpwstr>
  </property>
  <property fmtid="{D5CDD505-2E9C-101B-9397-08002B2CF9AE}" pid="4" name="LastSaved">
    <vt:filetime>2021-03-30T00:00:00Z</vt:filetime>
  </property>
</Properties>
</file>