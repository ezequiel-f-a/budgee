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9" r:id="rId2"/>
    <p:sldId id="256" r:id="rId3"/>
    <p:sldId id="257" r:id="rId4"/>
    <p:sldId id="258"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3E3B3"/>
    <a:srgbClr val="9ED6B5"/>
    <a:srgbClr val="F75757"/>
    <a:srgbClr val="8A042D"/>
    <a:srgbClr val="D40A0A"/>
    <a:srgbClr val="F52727"/>
    <a:srgbClr val="0077FA"/>
    <a:srgbClr val="0064D2"/>
    <a:srgbClr val="58C4EA"/>
    <a:srgbClr val="004D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897" autoAdjust="0"/>
    <p:restoredTop sz="95673" autoAdjust="0"/>
  </p:normalViewPr>
  <p:slideViewPr>
    <p:cSldViewPr snapToGrid="0">
      <p:cViewPr varScale="1">
        <p:scale>
          <a:sx n="114" d="100"/>
          <a:sy n="114" d="100"/>
        </p:scale>
        <p:origin x="936" y="144"/>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8"/>
            <a:ext cx="9613861" cy="1080938"/>
          </a:xfrm>
          <a:prstGeom prst="rect">
            <a:avLst/>
          </a:prstGeom>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680321" y="2336873"/>
            <a:ext cx="9613861" cy="3599316"/>
          </a:xfrm>
          <a:prstGeom prst="rect">
            <a:avLst/>
          </a:prstGeo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a:xfrm>
            <a:off x="7550981" y="5936187"/>
            <a:ext cx="2743200" cy="365125"/>
          </a:xfrm>
          <a:prstGeom prst="rect">
            <a:avLst/>
          </a:prstGeom>
        </p:spPr>
        <p:txBody>
          <a:bodyPr/>
          <a:lstStyle/>
          <a:p>
            <a:fld id="{12DE42F4-6EEF-4EF7-8ED4-2208F0F89A08}" type="datetimeFigureOut">
              <a:rPr lang="en-US" dirty="0"/>
              <a:t>5/29/2024</a:t>
            </a:fld>
            <a:endParaRPr lang="en-US" dirty="0"/>
          </a:p>
        </p:txBody>
      </p:sp>
      <p:sp>
        <p:nvSpPr>
          <p:cNvPr id="5" name="Footer Placeholder 4"/>
          <p:cNvSpPr>
            <a:spLocks noGrp="1"/>
          </p:cNvSpPr>
          <p:nvPr>
            <p:ph type="ftr" sz="quarter" idx="11"/>
          </p:nvPr>
        </p:nvSpPr>
        <p:spPr>
          <a:xfrm>
            <a:off x="680321" y="5936188"/>
            <a:ext cx="687066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10729455" y="753227"/>
            <a:ext cx="1154151" cy="1090789"/>
          </a:xfrm>
          <a:prstGeom prst="rect">
            <a:avLst/>
          </a:prstGeom>
        </p:spPr>
        <p:txBody>
          <a:bodyPr/>
          <a:lstStyle/>
          <a:p>
            <a:fld id="{6D22F896-40B5-4ADD-8801-0D06FADFA095}" type="slidenum">
              <a:rPr lang="en-US" dirty="0"/>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a:prstGeom prst="rect">
            <a:avLst/>
          </a:prstGeom>
        </p:spPr>
        <p:txBody>
          <a:bodyPr anchor="ctr">
            <a:normAutofit/>
          </a:bodyPr>
          <a:lstStyle>
            <a:lvl1pPr algn="r">
              <a:defRPr sz="36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0322" y="4232171"/>
            <a:ext cx="9613860" cy="1704017"/>
          </a:xfrm>
          <a:prstGeom prst="rect">
            <a:avLst/>
          </a:prstGeo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a:xfrm>
            <a:off x="7550981" y="5936187"/>
            <a:ext cx="2743200" cy="365125"/>
          </a:xfrm>
          <a:prstGeom prst="rect">
            <a:avLst/>
          </a:prstGeom>
        </p:spPr>
        <p:txBody>
          <a:bodyPr/>
          <a:lstStyle/>
          <a:p>
            <a:fld id="{30578ACC-22D6-47C1-A373-4FD133E34F3C}" type="datetimeFigureOut">
              <a:rPr lang="en-US" dirty="0"/>
              <a:t>5/29/2024</a:t>
            </a:fld>
            <a:endParaRPr lang="en-US" dirty="0"/>
          </a:p>
        </p:txBody>
      </p:sp>
      <p:sp>
        <p:nvSpPr>
          <p:cNvPr id="5" name="Footer Placeholder 4"/>
          <p:cNvSpPr>
            <a:spLocks noGrp="1"/>
          </p:cNvSpPr>
          <p:nvPr>
            <p:ph type="ftr" sz="quarter" idx="11"/>
          </p:nvPr>
        </p:nvSpPr>
        <p:spPr>
          <a:xfrm>
            <a:off x="680321" y="5936188"/>
            <a:ext cx="687066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10729455" y="2869895"/>
            <a:ext cx="1154151" cy="1090789"/>
          </a:xfrm>
          <a:prstGeom prst="rect">
            <a:avLst/>
          </a:prstGeom>
        </p:spPr>
        <p:txBody>
          <a:bodyPr/>
          <a:lstStyle/>
          <a:p>
            <a:fld id="{6D22F896-40B5-4ADD-8801-0D06FADFA095}" type="slidenum">
              <a:rPr lang="en-US" dirty="0"/>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8"/>
            <a:ext cx="9613861" cy="1080938"/>
          </a:xfrm>
          <a:prstGeom prst="rect">
            <a:avLst/>
          </a:prstGeo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80320" y="2336873"/>
            <a:ext cx="4698358" cy="3599316"/>
          </a:xfrm>
          <a:prstGeom prst="rect">
            <a:avLst/>
          </a:prstGeo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594123" y="2336873"/>
            <a:ext cx="4700058" cy="3599316"/>
          </a:xfrm>
          <a:prstGeom prst="rect">
            <a:avLst/>
          </a:prstGeo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a:xfrm>
            <a:off x="7550981" y="5936187"/>
            <a:ext cx="2743200" cy="365125"/>
          </a:xfrm>
          <a:prstGeom prst="rect">
            <a:avLst/>
          </a:prstGeom>
        </p:spPr>
        <p:txBody>
          <a:bodyPr/>
          <a:lstStyle/>
          <a:p>
            <a:fld id="{4E5A6C69-6797-4E8A-BF37-F2C3751466E9}" type="datetimeFigureOut">
              <a:rPr lang="en-US" dirty="0"/>
              <a:t>5/29/2024</a:t>
            </a:fld>
            <a:endParaRPr lang="en-US" dirty="0"/>
          </a:p>
        </p:txBody>
      </p:sp>
      <p:sp>
        <p:nvSpPr>
          <p:cNvPr id="6" name="Footer Placeholder 5"/>
          <p:cNvSpPr>
            <a:spLocks noGrp="1"/>
          </p:cNvSpPr>
          <p:nvPr>
            <p:ph type="ftr" sz="quarter" idx="11"/>
          </p:nvPr>
        </p:nvSpPr>
        <p:spPr>
          <a:xfrm>
            <a:off x="680321" y="5936188"/>
            <a:ext cx="687066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10729455" y="753227"/>
            <a:ext cx="1154151" cy="1090789"/>
          </a:xfrm>
          <a:prstGeom prst="rect">
            <a:avLst/>
          </a:prstGeom>
        </p:spPr>
        <p:txBody>
          <a:bodyPr/>
          <a:lstStyle/>
          <a:p>
            <a:fld id="{6D22F896-40B5-4ADD-8801-0D06FADFA095}" type="slidenum">
              <a:rPr lang="en-US" dirty="0"/>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a:prstGeom prst="rect">
            <a:avLst/>
          </a:prstGeo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06350" y="2336873"/>
            <a:ext cx="4472327" cy="69313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80322" y="3030008"/>
            <a:ext cx="4698355" cy="2906179"/>
          </a:xfrm>
          <a:prstGeom prst="rect">
            <a:avLst/>
          </a:prstGeo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820154" y="2336873"/>
            <a:ext cx="4474028" cy="692076"/>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594123" y="3030008"/>
            <a:ext cx="4700059" cy="2906179"/>
          </a:xfrm>
          <a:prstGeom prst="rect">
            <a:avLst/>
          </a:prstGeo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a:xfrm>
            <a:off x="7550981" y="5936187"/>
            <a:ext cx="2743200" cy="365125"/>
          </a:xfrm>
          <a:prstGeom prst="rect">
            <a:avLst/>
          </a:prstGeom>
        </p:spPr>
        <p:txBody>
          <a:bodyPr/>
          <a:lstStyle/>
          <a:p>
            <a:fld id="{D82014A1-A632-4878-A0D3-F52BA7563730}" type="datetimeFigureOut">
              <a:rPr lang="en-US" dirty="0"/>
              <a:t>5/29/2024</a:t>
            </a:fld>
            <a:endParaRPr lang="en-US" dirty="0"/>
          </a:p>
        </p:txBody>
      </p:sp>
      <p:sp>
        <p:nvSpPr>
          <p:cNvPr id="8" name="Footer Placeholder 7"/>
          <p:cNvSpPr>
            <a:spLocks noGrp="1"/>
          </p:cNvSpPr>
          <p:nvPr>
            <p:ph type="ftr" sz="quarter" idx="11"/>
          </p:nvPr>
        </p:nvSpPr>
        <p:spPr>
          <a:xfrm>
            <a:off x="680321" y="5936188"/>
            <a:ext cx="6870660" cy="365125"/>
          </a:xfrm>
          <a:prstGeom prst="rect">
            <a:avLst/>
          </a:prstGeom>
        </p:spPr>
        <p:txBody>
          <a:bodyPr/>
          <a:lstStyle/>
          <a:p>
            <a:endParaRPr lang="en-US" dirty="0"/>
          </a:p>
        </p:txBody>
      </p:sp>
      <p:sp>
        <p:nvSpPr>
          <p:cNvPr id="9" name="Slide Number Placeholder 8"/>
          <p:cNvSpPr>
            <a:spLocks noGrp="1"/>
          </p:cNvSpPr>
          <p:nvPr>
            <p:ph type="sldNum" sz="quarter" idx="12"/>
          </p:nvPr>
        </p:nvSpPr>
        <p:spPr>
          <a:xfrm>
            <a:off x="10729455" y="753227"/>
            <a:ext cx="1154151" cy="1090789"/>
          </a:xfrm>
          <a:prstGeom prst="rect">
            <a:avLst/>
          </a:prstGeom>
        </p:spPr>
        <p:txBody>
          <a:bodyPr/>
          <a:lstStyle/>
          <a:p>
            <a:fld id="{6D22F896-40B5-4ADD-8801-0D06FADFA095}" type="slidenum">
              <a:rPr lang="en-US" dirty="0"/>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8"/>
            <a:ext cx="9613861" cy="1080938"/>
          </a:xfrm>
          <a:prstGeom prst="rect">
            <a:avLst/>
          </a:prstGeo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a:xfrm>
            <a:off x="7550981" y="5936187"/>
            <a:ext cx="2743200" cy="365125"/>
          </a:xfrm>
          <a:prstGeom prst="rect">
            <a:avLst/>
          </a:prstGeom>
        </p:spPr>
        <p:txBody>
          <a:bodyPr/>
          <a:lstStyle/>
          <a:p>
            <a:fld id="{CE99F462-093F-4566-844B-4C71F2739DA5}" type="datetimeFigureOut">
              <a:rPr lang="en-US" dirty="0"/>
              <a:t>5/29/2024</a:t>
            </a:fld>
            <a:endParaRPr lang="en-US" dirty="0"/>
          </a:p>
        </p:txBody>
      </p:sp>
      <p:sp>
        <p:nvSpPr>
          <p:cNvPr id="4" name="Footer Placeholder 3"/>
          <p:cNvSpPr>
            <a:spLocks noGrp="1"/>
          </p:cNvSpPr>
          <p:nvPr>
            <p:ph type="ftr" sz="quarter" idx="11"/>
          </p:nvPr>
        </p:nvSpPr>
        <p:spPr>
          <a:xfrm>
            <a:off x="680321" y="5936188"/>
            <a:ext cx="6870660" cy="365125"/>
          </a:xfrm>
          <a:prstGeom prst="rect">
            <a:avLst/>
          </a:prstGeom>
        </p:spPr>
        <p:txBody>
          <a:bodyPr/>
          <a:lstStyle/>
          <a:p>
            <a:endParaRPr lang="en-US" dirty="0"/>
          </a:p>
        </p:txBody>
      </p:sp>
      <p:sp>
        <p:nvSpPr>
          <p:cNvPr id="5" name="Slide Number Placeholder 4"/>
          <p:cNvSpPr>
            <a:spLocks noGrp="1"/>
          </p:cNvSpPr>
          <p:nvPr>
            <p:ph type="sldNum" sz="quarter" idx="12"/>
          </p:nvPr>
        </p:nvSpPr>
        <p:spPr>
          <a:xfrm>
            <a:off x="10729455" y="753227"/>
            <a:ext cx="1154151" cy="1090789"/>
          </a:xfrm>
          <a:prstGeom prst="rect">
            <a:avLst/>
          </a:prstGeom>
        </p:spPr>
        <p:txBody>
          <a:bodyPr/>
          <a:lstStyle/>
          <a:p>
            <a:fld id="{6D22F896-40B5-4ADD-8801-0D06FADFA095}" type="slidenum">
              <a:rPr lang="en-US" dirty="0"/>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a:xfrm>
            <a:off x="7550981" y="5936187"/>
            <a:ext cx="2743200" cy="365125"/>
          </a:xfrm>
          <a:prstGeom prst="rect">
            <a:avLst/>
          </a:prstGeom>
        </p:spPr>
        <p:txBody>
          <a:bodyPr/>
          <a:lstStyle/>
          <a:p>
            <a:fld id="{3D24A7AC-904D-4781-85BA-7D10C17ED021}" type="datetimeFigureOut">
              <a:rPr lang="en-US" dirty="0"/>
              <a:t>5/29/2024</a:t>
            </a:fld>
            <a:endParaRPr lang="en-US" dirty="0"/>
          </a:p>
        </p:txBody>
      </p:sp>
      <p:sp>
        <p:nvSpPr>
          <p:cNvPr id="3" name="Footer Placeholder 2"/>
          <p:cNvSpPr>
            <a:spLocks noGrp="1"/>
          </p:cNvSpPr>
          <p:nvPr>
            <p:ph type="ftr" sz="quarter" idx="11"/>
          </p:nvPr>
        </p:nvSpPr>
        <p:spPr>
          <a:xfrm>
            <a:off x="680321" y="5936188"/>
            <a:ext cx="6870660" cy="365125"/>
          </a:xfrm>
          <a:prstGeom prst="rect">
            <a:avLst/>
          </a:prstGeom>
        </p:spPr>
        <p:txBody>
          <a:bodyPr/>
          <a:lstStyle/>
          <a:p>
            <a:endParaRPr lang="en-US" dirty="0"/>
          </a:p>
        </p:txBody>
      </p:sp>
      <p:sp>
        <p:nvSpPr>
          <p:cNvPr id="4" name="Slide Number Placeholder 3"/>
          <p:cNvSpPr>
            <a:spLocks noGrp="1"/>
          </p:cNvSpPr>
          <p:nvPr>
            <p:ph type="sldNum" sz="quarter" idx="12"/>
          </p:nvPr>
        </p:nvSpPr>
        <p:spPr>
          <a:xfrm>
            <a:off x="10729455" y="753227"/>
            <a:ext cx="1154151" cy="1090789"/>
          </a:xfrm>
          <a:prstGeom prst="rect">
            <a:avLst/>
          </a:prstGeom>
        </p:spPr>
        <p:txBody>
          <a:bodyPr/>
          <a:lstStyle/>
          <a:p>
            <a:fld id="{6D22F896-40B5-4ADD-8801-0D06FADFA095}" type="slidenum">
              <a:rPr lang="en-US" dirty="0"/>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a:prstGeom prst="rect">
            <a:avLst/>
          </a:prstGeom>
        </p:spPr>
        <p:txBody>
          <a:bodyPr anchor="ctr">
            <a:normAutofit/>
          </a:bodyPr>
          <a:lstStyle>
            <a:lvl1pPr>
              <a:defRPr sz="36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685846" y="2336873"/>
            <a:ext cx="5608336" cy="3599313"/>
          </a:xfrm>
          <a:prstGeom prst="rect">
            <a:avLst/>
          </a:prstGeo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80322" y="2336872"/>
            <a:ext cx="3790078" cy="3599317"/>
          </a:xfrm>
          <a:prstGeom prst="rect">
            <a:avLst/>
          </a:prstGeo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550981" y="5936187"/>
            <a:ext cx="2743200" cy="365125"/>
          </a:xfrm>
          <a:prstGeom prst="rect">
            <a:avLst/>
          </a:prstGeom>
        </p:spPr>
        <p:txBody>
          <a:bodyPr/>
          <a:lstStyle/>
          <a:p>
            <a:fld id="{E331444B-B92B-4E27-8C94-BB93EAF5CB18}" type="datetimeFigureOut">
              <a:rPr lang="en-US" dirty="0"/>
              <a:t>5/29/2024</a:t>
            </a:fld>
            <a:endParaRPr lang="en-US" dirty="0"/>
          </a:p>
        </p:txBody>
      </p:sp>
      <p:sp>
        <p:nvSpPr>
          <p:cNvPr id="6" name="Footer Placeholder 5"/>
          <p:cNvSpPr>
            <a:spLocks noGrp="1"/>
          </p:cNvSpPr>
          <p:nvPr>
            <p:ph type="ftr" sz="quarter" idx="11"/>
          </p:nvPr>
        </p:nvSpPr>
        <p:spPr>
          <a:xfrm>
            <a:off x="680321" y="5936188"/>
            <a:ext cx="687066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10729455" y="753227"/>
            <a:ext cx="1154151" cy="1090789"/>
          </a:xfrm>
          <a:prstGeom prst="rect">
            <a:avLst/>
          </a:prstGeom>
        </p:spPr>
        <p:txBody>
          <a:bodyPr/>
          <a:lstStyle/>
          <a:p>
            <a:fld id="{6D22F896-40B5-4ADD-8801-0D06FADFA095}" type="slidenum">
              <a:rPr lang="en-US" dirty="0"/>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a:prstGeom prst="rect">
            <a:avLst/>
          </a:prstGeom>
        </p:spPr>
        <p:txBody>
          <a:bodyPr anchor="ctr">
            <a:normAutofit/>
          </a:bodyPr>
          <a:lstStyle>
            <a:lvl1pPr>
              <a:defRPr sz="36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4868333" y="2336874"/>
            <a:ext cx="5425849" cy="3599312"/>
          </a:xfrm>
          <a:prstGeom prst="rect">
            <a:avLst/>
          </a:prstGeo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0323" y="2336873"/>
            <a:ext cx="3876256" cy="3599315"/>
          </a:xfrm>
          <a:prstGeom prst="rect">
            <a:avLst/>
          </a:prstGeo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550981" y="5936187"/>
            <a:ext cx="2743200" cy="365125"/>
          </a:xfrm>
          <a:prstGeom prst="rect">
            <a:avLst/>
          </a:prstGeom>
        </p:spPr>
        <p:txBody>
          <a:bodyPr/>
          <a:lstStyle/>
          <a:p>
            <a:fld id="{363EFA5E-FA76-400D-B3DC-F0BA90E6D107}" type="datetimeFigureOut">
              <a:rPr lang="en-US" dirty="0"/>
              <a:t>5/29/2024</a:t>
            </a:fld>
            <a:endParaRPr lang="en-US" dirty="0"/>
          </a:p>
        </p:txBody>
      </p:sp>
      <p:sp>
        <p:nvSpPr>
          <p:cNvPr id="6" name="Footer Placeholder 5"/>
          <p:cNvSpPr>
            <a:spLocks noGrp="1"/>
          </p:cNvSpPr>
          <p:nvPr>
            <p:ph type="ftr" sz="quarter" idx="11"/>
          </p:nvPr>
        </p:nvSpPr>
        <p:spPr>
          <a:xfrm>
            <a:off x="680321" y="5936188"/>
            <a:ext cx="687066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10729455" y="753227"/>
            <a:ext cx="1154151" cy="1090789"/>
          </a:xfrm>
          <a:prstGeom prst="rect">
            <a:avLst/>
          </a:prstGeom>
        </p:spPr>
        <p:txBody>
          <a:bodyPr/>
          <a:lstStyle/>
          <a:p>
            <a:fld id="{6D22F896-40B5-4ADD-8801-0D06FADFA095}" type="slidenum">
              <a:rPr lang="en-US" dirty="0"/>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a:prstGeom prst="rect">
            <a:avLst/>
          </a:prstGeom>
        </p:spPr>
        <p:txBody>
          <a:bodyPr anchor="b">
            <a:normAutofit/>
          </a:bodyPr>
          <a:lstStyle>
            <a:lvl1pPr>
              <a:defRPr sz="24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80322" y="609597"/>
            <a:ext cx="9613859" cy="3589575"/>
          </a:xfrm>
          <a:prstGeom prst="rect">
            <a:avLst/>
          </a:prstGeo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0319" y="5169583"/>
            <a:ext cx="9613862" cy="622971"/>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550981" y="5936187"/>
            <a:ext cx="2743200" cy="365125"/>
          </a:xfrm>
          <a:prstGeom prst="rect">
            <a:avLst/>
          </a:prstGeom>
        </p:spPr>
        <p:txBody>
          <a:bodyPr/>
          <a:lstStyle/>
          <a:p>
            <a:fld id="{446C117F-5CCF-4837-BE5F-2B92066CAFAF}" type="datetimeFigureOut">
              <a:rPr lang="en-US" dirty="0"/>
              <a:t>5/29/2024</a:t>
            </a:fld>
            <a:endParaRPr lang="en-US" dirty="0"/>
          </a:p>
        </p:txBody>
      </p:sp>
      <p:sp>
        <p:nvSpPr>
          <p:cNvPr id="6" name="Footer Placeholder 5"/>
          <p:cNvSpPr>
            <a:spLocks noGrp="1"/>
          </p:cNvSpPr>
          <p:nvPr>
            <p:ph type="ftr" sz="quarter" idx="11"/>
          </p:nvPr>
        </p:nvSpPr>
        <p:spPr>
          <a:xfrm>
            <a:off x="680321" y="5936188"/>
            <a:ext cx="687066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10729455" y="4711309"/>
            <a:ext cx="1154151" cy="1090789"/>
          </a:xfrm>
          <a:prstGeom prst="rect">
            <a:avLst/>
          </a:prstGeom>
        </p:spPr>
        <p:txBody>
          <a:bodyPr/>
          <a:lstStyle/>
          <a:p>
            <a:fld id="{6D22F896-40B5-4ADD-8801-0D06FADFA095}" type="slidenum">
              <a:rPr lang="en-US" dirty="0"/>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a:prstGeom prst="rect">
            <a:avLst/>
          </a:prstGeom>
        </p:spPr>
        <p:txBody>
          <a:bodyPr anchor="ctr"/>
          <a:lstStyle>
            <a:lvl1pP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680322" y="4711615"/>
            <a:ext cx="9613859" cy="1090789"/>
          </a:xfrm>
          <a:prstGeom prst="rect">
            <a:avLst/>
          </a:prstGeo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550981" y="5936187"/>
            <a:ext cx="2743200" cy="365125"/>
          </a:xfrm>
          <a:prstGeom prst="rect">
            <a:avLst/>
          </a:prstGeom>
        </p:spPr>
        <p:txBody>
          <a:bodyPr/>
          <a:lstStyle/>
          <a:p>
            <a:fld id="{84EB90BD-B6CE-46B7-997F-7313B992CCDC}" type="datetimeFigureOut">
              <a:rPr lang="en-US" dirty="0"/>
              <a:t>5/29/2024</a:t>
            </a:fld>
            <a:endParaRPr lang="en-US" dirty="0"/>
          </a:p>
        </p:txBody>
      </p:sp>
      <p:sp>
        <p:nvSpPr>
          <p:cNvPr id="6" name="Footer Placeholder 5"/>
          <p:cNvSpPr>
            <a:spLocks noGrp="1"/>
          </p:cNvSpPr>
          <p:nvPr>
            <p:ph type="ftr" sz="quarter" idx="11"/>
          </p:nvPr>
        </p:nvSpPr>
        <p:spPr>
          <a:xfrm>
            <a:off x="680321" y="5936188"/>
            <a:ext cx="687066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10729455" y="4711615"/>
            <a:ext cx="1154151" cy="1090789"/>
          </a:xfrm>
          <a:prstGeom prst="rect">
            <a:avLst/>
          </a:prstGeom>
        </p:spPr>
        <p:txBody>
          <a:bodyPr/>
          <a:lstStyle/>
          <a:p>
            <a:fld id="{6D22F896-40B5-4ADD-8801-0D06FADFA095}" type="slidenum">
              <a:rPr lang="en-US" dirty="0"/>
              <a:t>‹Nº›</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a:prstGeom prst="rect">
            <a:avLst/>
          </a:prstGeom>
        </p:spPr>
        <p:txBody>
          <a:bodyPr anchor="ctr"/>
          <a:lstStyle>
            <a:lvl1pPr>
              <a:defRPr sz="32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402288" y="3653379"/>
            <a:ext cx="8156579" cy="548968"/>
          </a:xfrm>
          <a:prstGeom prst="rect">
            <a:avLst/>
          </a:prstGeo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680322" y="4711615"/>
            <a:ext cx="9613859" cy="1090789"/>
          </a:xfrm>
          <a:prstGeom prst="rect">
            <a:avLst/>
          </a:prstGeo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550981" y="5936187"/>
            <a:ext cx="2743200" cy="365125"/>
          </a:xfrm>
          <a:prstGeom prst="rect">
            <a:avLst/>
          </a:prstGeom>
        </p:spPr>
        <p:txBody>
          <a:bodyPr/>
          <a:lstStyle/>
          <a:p>
            <a:fld id="{CDB9D11F-B188-461D-B23F-39381795C052}" type="datetimeFigureOut">
              <a:rPr lang="en-US" dirty="0"/>
              <a:t>5/29/2024</a:t>
            </a:fld>
            <a:endParaRPr lang="en-US" dirty="0"/>
          </a:p>
        </p:txBody>
      </p:sp>
      <p:sp>
        <p:nvSpPr>
          <p:cNvPr id="6" name="Footer Placeholder 5"/>
          <p:cNvSpPr>
            <a:spLocks noGrp="1"/>
          </p:cNvSpPr>
          <p:nvPr>
            <p:ph type="ftr" sz="quarter" idx="11"/>
          </p:nvPr>
        </p:nvSpPr>
        <p:spPr>
          <a:xfrm>
            <a:off x="680321" y="5936188"/>
            <a:ext cx="687066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a:prstGeom prst="rect">
            <a:avLst/>
          </a:prstGeom>
        </p:spPr>
        <p:txBody>
          <a:bodyPr/>
          <a:lstStyle/>
          <a:p>
            <a:fld id="{6D22F896-40B5-4ADD-8801-0D06FADFA095}" type="slidenum">
              <a:rPr lang="en-US" dirty="0"/>
              <a:t>‹Nº›</a:t>
            </a:fld>
            <a:endParaRPr lang="en-US" dirty="0"/>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a:prstGeom prst="rect">
            <a:avLst/>
          </a:prstGeom>
        </p:spPr>
        <p:txBody>
          <a:bodyPr anchor="b"/>
          <a:lstStyle>
            <a:lvl1pP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680320" y="5300149"/>
            <a:ext cx="9613862" cy="502255"/>
          </a:xfrm>
          <a:prstGeom prst="rect">
            <a:avLst/>
          </a:prstGeo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550981" y="5936187"/>
            <a:ext cx="2743200" cy="365125"/>
          </a:xfrm>
          <a:prstGeom prst="rect">
            <a:avLst/>
          </a:prstGeom>
        </p:spPr>
        <p:txBody>
          <a:bodyPr/>
          <a:lstStyle/>
          <a:p>
            <a:fld id="{52E6D8D9-55A2-4063-B0F3-121F44549695}" type="datetimeFigureOut">
              <a:rPr lang="en-US" dirty="0"/>
              <a:t>5/29/2024</a:t>
            </a:fld>
            <a:endParaRPr lang="en-US" dirty="0"/>
          </a:p>
        </p:txBody>
      </p:sp>
      <p:sp>
        <p:nvSpPr>
          <p:cNvPr id="6" name="Footer Placeholder 5"/>
          <p:cNvSpPr>
            <a:spLocks noGrp="1"/>
          </p:cNvSpPr>
          <p:nvPr>
            <p:ph type="ftr" sz="quarter" idx="11"/>
          </p:nvPr>
        </p:nvSpPr>
        <p:spPr>
          <a:xfrm>
            <a:off x="680321" y="5936188"/>
            <a:ext cx="687066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a:prstGeom prst="rect">
            <a:avLst/>
          </a:prstGeom>
        </p:spPr>
        <p:txBody>
          <a:bodyPr/>
          <a:lstStyle/>
          <a:p>
            <a:fld id="{6D22F896-40B5-4ADD-8801-0D06FADFA095}" type="slidenum">
              <a:rPr lang="en-US" dirty="0"/>
              <a:t>‹Nº›</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a:prstGeom prst="rect">
            <a:avLst/>
          </a:prstGeo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660946" y="2336873"/>
            <a:ext cx="3070034" cy="576262"/>
          </a:xfrm>
          <a:prstGeom prst="rect">
            <a:avLst/>
          </a:prstGeo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680322" y="3022673"/>
            <a:ext cx="3049702" cy="2913513"/>
          </a:xfrm>
          <a:prstGeom prst="rect">
            <a:avLst/>
          </a:prstGeo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3956025" y="2336873"/>
            <a:ext cx="3063240" cy="576262"/>
          </a:xfrm>
          <a:prstGeom prst="rect">
            <a:avLst/>
          </a:prstGeo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3945470" y="3022673"/>
            <a:ext cx="3063240" cy="2913513"/>
          </a:xfrm>
          <a:prstGeom prst="rect">
            <a:avLst/>
          </a:prstGeo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224156" y="2336873"/>
            <a:ext cx="3070025" cy="576262"/>
          </a:xfrm>
          <a:prstGeom prst="rect">
            <a:avLst/>
          </a:prstGeo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224156" y="3022673"/>
            <a:ext cx="3070025" cy="2913513"/>
          </a:xfrm>
          <a:prstGeom prst="rect">
            <a:avLst/>
          </a:prstGeo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a:xfrm>
            <a:off x="7550981" y="5936187"/>
            <a:ext cx="2743200" cy="365125"/>
          </a:xfrm>
          <a:prstGeom prst="rect">
            <a:avLst/>
          </a:prstGeom>
        </p:spPr>
        <p:txBody>
          <a:bodyPr/>
          <a:lstStyle/>
          <a:p>
            <a:fld id="{D4B24536-994D-4021-A283-9F449C0DB509}" type="datetimeFigureOut">
              <a:rPr lang="en-US" dirty="0"/>
              <a:t>5/29/2024</a:t>
            </a:fld>
            <a:endParaRPr lang="en-US" dirty="0"/>
          </a:p>
        </p:txBody>
      </p:sp>
      <p:sp>
        <p:nvSpPr>
          <p:cNvPr id="4" name="Footer Placeholder 3"/>
          <p:cNvSpPr>
            <a:spLocks noGrp="1"/>
          </p:cNvSpPr>
          <p:nvPr>
            <p:ph type="ftr" sz="quarter" idx="11"/>
          </p:nvPr>
        </p:nvSpPr>
        <p:spPr>
          <a:xfrm>
            <a:off x="680321" y="5936188"/>
            <a:ext cx="6870660" cy="365125"/>
          </a:xfrm>
          <a:prstGeom prst="rect">
            <a:avLst/>
          </a:prstGeom>
        </p:spPr>
        <p:txBody>
          <a:bodyPr/>
          <a:lstStyle/>
          <a:p>
            <a:endParaRPr lang="en-US" dirty="0"/>
          </a:p>
        </p:txBody>
      </p:sp>
      <p:sp>
        <p:nvSpPr>
          <p:cNvPr id="5" name="Slide Number Placeholder 4"/>
          <p:cNvSpPr>
            <a:spLocks noGrp="1"/>
          </p:cNvSpPr>
          <p:nvPr>
            <p:ph type="sldNum" sz="quarter" idx="12"/>
          </p:nvPr>
        </p:nvSpPr>
        <p:spPr>
          <a:xfrm>
            <a:off x="10729455" y="753227"/>
            <a:ext cx="1154151" cy="1090789"/>
          </a:xfrm>
          <a:prstGeom prst="rect">
            <a:avLst/>
          </a:prstGeom>
        </p:spPr>
        <p:txBody>
          <a:bodyPr/>
          <a:lstStyle/>
          <a:p>
            <a:fld id="{6D22F896-40B5-4ADD-8801-0D06FADFA095}" type="slidenum">
              <a:rPr lang="en-US" dirty="0"/>
              <a:t>‹Nº›</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a:prstGeom prst="rect">
            <a:avLst/>
          </a:prstGeo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680318" y="4297503"/>
            <a:ext cx="3049705" cy="576262"/>
          </a:xfrm>
          <a:prstGeom prst="rect">
            <a:avLst/>
          </a:prstGeo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680318" y="4873765"/>
            <a:ext cx="3049705" cy="1062422"/>
          </a:xfrm>
          <a:prstGeom prst="rect">
            <a:avLst/>
          </a:prstGeo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3945471" y="4297503"/>
            <a:ext cx="3063240" cy="576262"/>
          </a:xfrm>
          <a:prstGeom prst="rect">
            <a:avLst/>
          </a:prstGeo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3944117" y="4873764"/>
            <a:ext cx="3067297" cy="1062422"/>
          </a:xfrm>
          <a:prstGeom prst="rect">
            <a:avLst/>
          </a:prstGeo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230678" y="4297503"/>
            <a:ext cx="3063505" cy="576262"/>
          </a:xfrm>
          <a:prstGeom prst="rect">
            <a:avLst/>
          </a:prstGeo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7230553" y="4873762"/>
            <a:ext cx="3067563" cy="1062422"/>
          </a:xfrm>
          <a:prstGeom prst="rect">
            <a:avLst/>
          </a:prstGeo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a:xfrm>
            <a:off x="7550981" y="5936187"/>
            <a:ext cx="2743200" cy="365125"/>
          </a:xfrm>
          <a:prstGeom prst="rect">
            <a:avLst/>
          </a:prstGeom>
        </p:spPr>
        <p:txBody>
          <a:bodyPr/>
          <a:lstStyle/>
          <a:p>
            <a:fld id="{3CBBBB78-C96F-47B7-AB17-D852CA960AC9}" type="datetimeFigureOut">
              <a:rPr lang="en-US" dirty="0"/>
              <a:t>5/29/2024</a:t>
            </a:fld>
            <a:endParaRPr lang="en-US" dirty="0"/>
          </a:p>
        </p:txBody>
      </p:sp>
      <p:sp>
        <p:nvSpPr>
          <p:cNvPr id="4" name="Footer Placeholder 3"/>
          <p:cNvSpPr>
            <a:spLocks noGrp="1"/>
          </p:cNvSpPr>
          <p:nvPr>
            <p:ph type="ftr" sz="quarter" idx="11"/>
          </p:nvPr>
        </p:nvSpPr>
        <p:spPr>
          <a:xfrm>
            <a:off x="680321" y="5936188"/>
            <a:ext cx="6870660" cy="365125"/>
          </a:xfrm>
          <a:prstGeom prst="rect">
            <a:avLst/>
          </a:prstGeom>
        </p:spPr>
        <p:txBody>
          <a:bodyPr/>
          <a:lstStyle/>
          <a:p>
            <a:endParaRPr lang="en-US" dirty="0"/>
          </a:p>
        </p:txBody>
      </p:sp>
      <p:sp>
        <p:nvSpPr>
          <p:cNvPr id="5" name="Slide Number Placeholder 4"/>
          <p:cNvSpPr>
            <a:spLocks noGrp="1"/>
          </p:cNvSpPr>
          <p:nvPr>
            <p:ph type="sldNum" sz="quarter" idx="12"/>
          </p:nvPr>
        </p:nvSpPr>
        <p:spPr>
          <a:xfrm>
            <a:off x="10729455" y="753227"/>
            <a:ext cx="1154151" cy="1090789"/>
          </a:xfrm>
          <a:prstGeom prst="rect">
            <a:avLst/>
          </a:prstGeom>
        </p:spPr>
        <p:txBody>
          <a:bodyPr/>
          <a:lstStyle/>
          <a:p>
            <a:fld id="{6D22F896-40B5-4ADD-8801-0D06FADFA095}" type="slidenum">
              <a:rPr lang="en-US" dirty="0"/>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8"/>
            <a:ext cx="9613861" cy="1080938"/>
          </a:xfrm>
          <a:prstGeom prst="rect">
            <a:avLst/>
          </a:prstGeom>
        </p:spPr>
        <p:txBody>
          <a:bodyPr/>
          <a:lstStyle>
            <a:lvl1pPr algn="r">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80321" y="2336873"/>
            <a:ext cx="9613861" cy="3599316"/>
          </a:xfrm>
          <a:prstGeom prst="rect">
            <a:avLst/>
          </a:prstGeo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a:xfrm>
            <a:off x="7550981" y="5936187"/>
            <a:ext cx="2743200" cy="365125"/>
          </a:xfrm>
          <a:prstGeom prst="rect">
            <a:avLst/>
          </a:prstGeom>
        </p:spPr>
        <p:txBody>
          <a:bodyPr/>
          <a:lstStyle/>
          <a:p>
            <a:fld id="{1FA3F48C-C7C6-4055-9F49-3777875E72AE}" type="datetimeFigureOut">
              <a:rPr lang="en-US" dirty="0"/>
              <a:t>5/29/2024</a:t>
            </a:fld>
            <a:endParaRPr lang="en-US" dirty="0"/>
          </a:p>
        </p:txBody>
      </p:sp>
      <p:sp>
        <p:nvSpPr>
          <p:cNvPr id="5" name="Footer Placeholder 4"/>
          <p:cNvSpPr>
            <a:spLocks noGrp="1"/>
          </p:cNvSpPr>
          <p:nvPr>
            <p:ph type="ftr" sz="quarter" idx="11"/>
          </p:nvPr>
        </p:nvSpPr>
        <p:spPr>
          <a:xfrm>
            <a:off x="680321" y="5936188"/>
            <a:ext cx="687066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10729455" y="753227"/>
            <a:ext cx="1154151" cy="1090789"/>
          </a:xfrm>
          <a:prstGeom prst="rect">
            <a:avLst/>
          </a:prstGeom>
        </p:spPr>
        <p:txBody>
          <a:bodyPr/>
          <a:lstStyle/>
          <a:p>
            <a:fld id="{6D22F896-40B5-4ADD-8801-0D06FADFA095}" type="slidenum">
              <a:rPr lang="en-US" dirty="0"/>
              <a:t>‹Nº›</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a:prstGeom prst="rect">
            <a:avLst/>
          </a:prstGeo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80322" y="609597"/>
            <a:ext cx="8870004" cy="5326589"/>
          </a:xfrm>
          <a:prstGeom prst="rect">
            <a:avLst/>
          </a:prstGeo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a:xfrm>
            <a:off x="6807126" y="5936187"/>
            <a:ext cx="2743200" cy="365125"/>
          </a:xfrm>
          <a:prstGeom prst="rect">
            <a:avLst/>
          </a:prstGeom>
        </p:spPr>
        <p:txBody>
          <a:bodyPr/>
          <a:lstStyle/>
          <a:p>
            <a:fld id="{6178E61D-D431-422C-9764-11DAFE33AB63}" type="datetimeFigureOut">
              <a:rPr lang="en-US" dirty="0"/>
              <a:t>5/29/2024</a:t>
            </a:fld>
            <a:endParaRPr lang="en-US" dirty="0"/>
          </a:p>
        </p:txBody>
      </p:sp>
      <p:sp>
        <p:nvSpPr>
          <p:cNvPr id="5" name="Footer Placeholder 4"/>
          <p:cNvSpPr>
            <a:spLocks noGrp="1"/>
          </p:cNvSpPr>
          <p:nvPr>
            <p:ph type="ftr" sz="quarter" idx="11"/>
          </p:nvPr>
        </p:nvSpPr>
        <p:spPr>
          <a:xfrm>
            <a:off x="680321" y="5936188"/>
            <a:ext cx="6126805"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10097550" y="5398633"/>
            <a:ext cx="1154151" cy="1090789"/>
          </a:xfrm>
          <a:prstGeom prst="rect">
            <a:avLst/>
          </a:prstGeom>
        </p:spPr>
        <p:txBody>
          <a:bodyPr anchor="t"/>
          <a:lstStyle>
            <a:lvl1pPr algn="ctr">
              <a:defRPr/>
            </a:lvl1pPr>
          </a:lstStyle>
          <a:p>
            <a:fld id="{6D22F896-40B5-4ADD-8801-0D06FADFA095}" type="slidenum">
              <a:rPr lang="en-US" dirty="0"/>
              <a:pPr/>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hf sldNum="0"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tx2"/>
            </a:gs>
            <a:gs pos="50000">
              <a:schemeClr val="tx1">
                <a:lumMod val="75000"/>
              </a:schemeClr>
            </a:gs>
            <a:gs pos="100000">
              <a:schemeClr val="bg1">
                <a:lumMod val="65000"/>
                <a:lumOff val="35000"/>
              </a:schemeClr>
            </a:gs>
          </a:gsLst>
          <a:lin ang="2520000" scaled="0"/>
        </a:gradFill>
        <a:effectLst/>
      </p:bgPr>
    </p:bg>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15C60C66-FBA5-394A-C74D-FAF64F473599}"/>
              </a:ext>
            </a:extLst>
          </p:cNvPr>
          <p:cNvSpPr/>
          <p:nvPr/>
        </p:nvSpPr>
        <p:spPr>
          <a:xfrm>
            <a:off x="0" y="2256101"/>
            <a:ext cx="12192000" cy="1446550"/>
          </a:xfrm>
          <a:prstGeom prst="rect">
            <a:avLst/>
          </a:prstGeom>
          <a:noFill/>
        </p:spPr>
        <p:txBody>
          <a:bodyPr wrap="square" lIns="91440" tIns="45720" rIns="91440" bIns="45720">
            <a:spAutoFit/>
          </a:bodyPr>
          <a:lstStyle/>
          <a:p>
            <a:pPr algn="ctr"/>
            <a:r>
              <a:rPr lang="es-ES" sz="8800" b="0" cap="none" spc="0" dirty="0">
                <a:ln w="0"/>
                <a:effectLst>
                  <a:outerShdw blurRad="38100" dist="25400" dir="5400000" algn="ctr" rotWithShape="0">
                    <a:srgbClr val="6E747A">
                      <a:alpha val="43000"/>
                    </a:srgbClr>
                  </a:outerShdw>
                </a:effectLst>
              </a:rPr>
              <a:t>IDEAS DE NEGOCIO</a:t>
            </a:r>
          </a:p>
        </p:txBody>
      </p:sp>
      <p:sp>
        <p:nvSpPr>
          <p:cNvPr id="8" name="Rectángulo 7">
            <a:extLst>
              <a:ext uri="{FF2B5EF4-FFF2-40B4-BE49-F238E27FC236}">
                <a16:creationId xmlns:a16="http://schemas.microsoft.com/office/drawing/2014/main" id="{F199545C-9F70-2EBA-7EF6-394A9684AFD2}"/>
              </a:ext>
            </a:extLst>
          </p:cNvPr>
          <p:cNvSpPr/>
          <p:nvPr/>
        </p:nvSpPr>
        <p:spPr>
          <a:xfrm>
            <a:off x="0" y="3806910"/>
            <a:ext cx="12192000" cy="584775"/>
          </a:xfrm>
          <a:prstGeom prst="rect">
            <a:avLst/>
          </a:prstGeom>
          <a:noFill/>
        </p:spPr>
        <p:txBody>
          <a:bodyPr wrap="square" lIns="91440" tIns="45720" rIns="91440" bIns="45720">
            <a:spAutoFit/>
          </a:bodyPr>
          <a:lstStyle/>
          <a:p>
            <a:pPr algn="ctr"/>
            <a:r>
              <a:rPr lang="es-ES" sz="3200" b="0" cap="none" spc="0" dirty="0">
                <a:ln w="0"/>
                <a:effectLst>
                  <a:outerShdw blurRad="38100" dist="25400" dir="5400000" algn="ctr" rotWithShape="0">
                    <a:srgbClr val="6E747A">
                      <a:alpha val="43000"/>
                    </a:srgbClr>
                  </a:outerShdw>
                </a:effectLst>
              </a:rPr>
              <a:t>EZEQUIEL AMOROSINO</a:t>
            </a:r>
          </a:p>
        </p:txBody>
      </p:sp>
    </p:spTree>
    <p:extLst>
      <p:ext uri="{BB962C8B-B14F-4D97-AF65-F5344CB8AC3E}">
        <p14:creationId xmlns:p14="http://schemas.microsoft.com/office/powerpoint/2010/main" val="9156109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15C60C66-FBA5-394A-C74D-FAF64F473599}"/>
              </a:ext>
            </a:extLst>
          </p:cNvPr>
          <p:cNvSpPr/>
          <p:nvPr/>
        </p:nvSpPr>
        <p:spPr>
          <a:xfrm>
            <a:off x="0" y="-540"/>
            <a:ext cx="12192000" cy="830997"/>
          </a:xfrm>
          <a:prstGeom prst="rect">
            <a:avLst/>
          </a:prstGeom>
          <a:noFill/>
        </p:spPr>
        <p:txBody>
          <a:bodyPr wrap="square" lIns="91440" tIns="45720" rIns="91440" bIns="45720">
            <a:spAutoFit/>
          </a:bodyPr>
          <a:lstStyle/>
          <a:p>
            <a:pPr algn="ctr"/>
            <a:r>
              <a:rPr lang="es-ES" sz="4800" b="0" cap="none" spc="0" dirty="0">
                <a:ln w="0"/>
                <a:effectLst>
                  <a:outerShdw blurRad="38100" dist="25400" dir="5400000" algn="ctr" rotWithShape="0">
                    <a:srgbClr val="6E747A">
                      <a:alpha val="43000"/>
                    </a:srgbClr>
                  </a:outerShdw>
                </a:effectLst>
              </a:rPr>
              <a:t>BUDGEE - GESTOR DE FINANZAS</a:t>
            </a:r>
          </a:p>
        </p:txBody>
      </p:sp>
      <p:grpSp>
        <p:nvGrpSpPr>
          <p:cNvPr id="8" name="Grupo 7">
            <a:extLst>
              <a:ext uri="{FF2B5EF4-FFF2-40B4-BE49-F238E27FC236}">
                <a16:creationId xmlns:a16="http://schemas.microsoft.com/office/drawing/2014/main" id="{D71411F0-B997-31C5-DFB1-43D81210BEC9}"/>
              </a:ext>
            </a:extLst>
          </p:cNvPr>
          <p:cNvGrpSpPr/>
          <p:nvPr/>
        </p:nvGrpSpPr>
        <p:grpSpPr>
          <a:xfrm>
            <a:off x="1204519" y="1926501"/>
            <a:ext cx="9782962" cy="4707095"/>
            <a:chOff x="267049" y="1021364"/>
            <a:chExt cx="11646716" cy="5603844"/>
          </a:xfrm>
        </p:grpSpPr>
        <p:sp>
          <p:nvSpPr>
            <p:cNvPr id="2" name="Rectángulo 1">
              <a:extLst>
                <a:ext uri="{FF2B5EF4-FFF2-40B4-BE49-F238E27FC236}">
                  <a16:creationId xmlns:a16="http://schemas.microsoft.com/office/drawing/2014/main" id="{ED91B968-1BC8-B18B-04E4-3DE9CC5128F5}"/>
                </a:ext>
              </a:extLst>
            </p:cNvPr>
            <p:cNvSpPr/>
            <p:nvPr/>
          </p:nvSpPr>
          <p:spPr>
            <a:xfrm>
              <a:off x="267050" y="1021364"/>
              <a:ext cx="3196208" cy="2208398"/>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s-ES" sz="1600" b="1" dirty="0"/>
                <a:t>PROPUESTA DE VALOR</a:t>
              </a:r>
              <a:br>
                <a:rPr lang="es-ES" sz="1600" dirty="0"/>
              </a:br>
              <a:br>
                <a:rPr lang="es-ES" sz="1600" dirty="0"/>
              </a:br>
              <a:r>
                <a:rPr lang="es-ES" sz="1600" dirty="0" err="1"/>
                <a:t>Gestion</a:t>
              </a:r>
              <a:r>
                <a:rPr lang="es-ES" sz="1600" dirty="0"/>
                <a:t> de finanzas compleja al alcance de cualquiera.</a:t>
              </a:r>
            </a:p>
            <a:p>
              <a:pPr algn="ctr"/>
              <a:r>
                <a:rPr lang="es-ES" sz="1600" dirty="0"/>
                <a:t>IA para consejos en finanzas.</a:t>
              </a:r>
              <a:endParaRPr lang="es-419" sz="1600" dirty="0"/>
            </a:p>
          </p:txBody>
        </p:sp>
        <p:sp>
          <p:nvSpPr>
            <p:cNvPr id="3" name="Rectángulo 2">
              <a:extLst>
                <a:ext uri="{FF2B5EF4-FFF2-40B4-BE49-F238E27FC236}">
                  <a16:creationId xmlns:a16="http://schemas.microsoft.com/office/drawing/2014/main" id="{8D61EA21-AF30-217F-D25D-50544AF59963}"/>
                </a:ext>
              </a:extLst>
            </p:cNvPr>
            <p:cNvSpPr/>
            <p:nvPr/>
          </p:nvSpPr>
          <p:spPr>
            <a:xfrm>
              <a:off x="4194499" y="3439487"/>
              <a:ext cx="4110602" cy="1505825"/>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s-ES" sz="1600" b="1" dirty="0"/>
                <a:t>SEGMENTO DE CLIENTES</a:t>
              </a:r>
              <a:br>
                <a:rPr lang="es-ES" sz="1600" dirty="0"/>
              </a:br>
              <a:br>
                <a:rPr lang="es-ES" sz="1600" dirty="0"/>
              </a:br>
              <a:r>
                <a:rPr lang="es-ES" sz="1600" dirty="0"/>
                <a:t>Pymes dispuestas a invertir en toma de decisiones y gestión de finanzas.</a:t>
              </a:r>
              <a:endParaRPr lang="es-419" sz="1600" dirty="0"/>
            </a:p>
          </p:txBody>
        </p:sp>
        <p:sp>
          <p:nvSpPr>
            <p:cNvPr id="4" name="Rectángulo 3">
              <a:extLst>
                <a:ext uri="{FF2B5EF4-FFF2-40B4-BE49-F238E27FC236}">
                  <a16:creationId xmlns:a16="http://schemas.microsoft.com/office/drawing/2014/main" id="{7F29F8FC-C01C-C7D6-3107-087F16FA0756}"/>
                </a:ext>
              </a:extLst>
            </p:cNvPr>
            <p:cNvSpPr/>
            <p:nvPr/>
          </p:nvSpPr>
          <p:spPr>
            <a:xfrm>
              <a:off x="4194497" y="5119382"/>
              <a:ext cx="4110603" cy="1505826"/>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s-ES" sz="1600" b="1" dirty="0"/>
                <a:t>CANALES</a:t>
              </a:r>
              <a:br>
                <a:rPr lang="es-ES" sz="1600" dirty="0"/>
              </a:br>
              <a:endParaRPr lang="es-ES" sz="1600" dirty="0"/>
            </a:p>
            <a:p>
              <a:pPr algn="ctr"/>
              <a:r>
                <a:rPr lang="es-ES" sz="1600" dirty="0"/>
                <a:t>Redes sociales y foros, promoción puerta a puerta.</a:t>
              </a:r>
              <a:endParaRPr lang="es-419" sz="1600" dirty="0"/>
            </a:p>
          </p:txBody>
        </p:sp>
        <p:sp>
          <p:nvSpPr>
            <p:cNvPr id="5" name="Rectángulo 4">
              <a:extLst>
                <a:ext uri="{FF2B5EF4-FFF2-40B4-BE49-F238E27FC236}">
                  <a16:creationId xmlns:a16="http://schemas.microsoft.com/office/drawing/2014/main" id="{FD54DF5B-C7E1-2D0C-4C48-DC9F34495B91}"/>
                </a:ext>
              </a:extLst>
            </p:cNvPr>
            <p:cNvSpPr/>
            <p:nvPr/>
          </p:nvSpPr>
          <p:spPr>
            <a:xfrm>
              <a:off x="8506438" y="3439487"/>
              <a:ext cx="3407327" cy="1505825"/>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s-ES" sz="1600" b="1" dirty="0" err="1"/>
                <a:t>RELACION</a:t>
              </a:r>
              <a:r>
                <a:rPr lang="es-ES" sz="1600" b="1" dirty="0"/>
                <a:t> CON CLIENTES</a:t>
              </a:r>
              <a:br>
                <a:rPr lang="es-ES" sz="1600" dirty="0"/>
              </a:br>
              <a:endParaRPr lang="es-ES" sz="1600" dirty="0"/>
            </a:p>
            <a:p>
              <a:pPr algn="ctr"/>
              <a:r>
                <a:rPr lang="es-ES" sz="1600" dirty="0"/>
                <a:t>Número de contacto, mail. Nada proactivo.</a:t>
              </a:r>
              <a:endParaRPr lang="es-419" sz="1600" dirty="0"/>
            </a:p>
          </p:txBody>
        </p:sp>
        <p:sp>
          <p:nvSpPr>
            <p:cNvPr id="6" name="Rectángulo 5">
              <a:extLst>
                <a:ext uri="{FF2B5EF4-FFF2-40B4-BE49-F238E27FC236}">
                  <a16:creationId xmlns:a16="http://schemas.microsoft.com/office/drawing/2014/main" id="{0C6B0E96-CF1A-3B26-BE1F-D4F7D445982C}"/>
                </a:ext>
              </a:extLst>
            </p:cNvPr>
            <p:cNvSpPr/>
            <p:nvPr/>
          </p:nvSpPr>
          <p:spPr>
            <a:xfrm>
              <a:off x="267049" y="3439487"/>
              <a:ext cx="3717721" cy="318572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s-ES" sz="1600" b="1" dirty="0"/>
                <a:t>FUENTES DE INGRESOS</a:t>
              </a:r>
              <a:br>
                <a:rPr lang="es-ES" sz="1600" dirty="0"/>
              </a:br>
              <a:endParaRPr lang="es-ES" sz="1600" dirty="0"/>
            </a:p>
            <a:p>
              <a:pPr algn="ctr"/>
              <a:r>
                <a:rPr lang="es-ES" sz="1600" dirty="0"/>
                <a:t>Venta de producto base,</a:t>
              </a:r>
            </a:p>
            <a:p>
              <a:pPr algn="ctr"/>
              <a:r>
                <a:rPr lang="es-ES" sz="1600" dirty="0"/>
                <a:t>Suscripción a características premium,</a:t>
              </a:r>
            </a:p>
            <a:p>
              <a:pPr algn="ctr"/>
              <a:r>
                <a:rPr lang="es-ES" sz="1600" dirty="0"/>
                <a:t>Extensión de características,</a:t>
              </a:r>
            </a:p>
            <a:p>
              <a:pPr algn="ctr"/>
              <a:r>
                <a:rPr lang="es-ES" sz="1600" dirty="0"/>
                <a:t>Asesoría de finanzas</a:t>
              </a:r>
              <a:endParaRPr lang="es-419" sz="1600" dirty="0"/>
            </a:p>
          </p:txBody>
        </p:sp>
        <p:sp>
          <p:nvSpPr>
            <p:cNvPr id="10" name="Rectángulo 9">
              <a:extLst>
                <a:ext uri="{FF2B5EF4-FFF2-40B4-BE49-F238E27FC236}">
                  <a16:creationId xmlns:a16="http://schemas.microsoft.com/office/drawing/2014/main" id="{B0C42D28-85AD-A250-A569-48CB3CCCE375}"/>
                </a:ext>
              </a:extLst>
            </p:cNvPr>
            <p:cNvSpPr/>
            <p:nvPr/>
          </p:nvSpPr>
          <p:spPr>
            <a:xfrm>
              <a:off x="3647814" y="1021364"/>
              <a:ext cx="2917970" cy="2208398"/>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s-ES" sz="1600" b="1" dirty="0"/>
                <a:t>ACTIVIDADES CLAVE</a:t>
              </a:r>
              <a:br>
                <a:rPr lang="es-ES" sz="1600" dirty="0"/>
              </a:br>
              <a:endParaRPr lang="es-ES" sz="1600" dirty="0"/>
            </a:p>
            <a:p>
              <a:pPr algn="ctr"/>
              <a:r>
                <a:rPr lang="es-ES" sz="1600" dirty="0"/>
                <a:t>Desarrollo de software,</a:t>
              </a:r>
            </a:p>
            <a:p>
              <a:pPr algn="ctr"/>
              <a:r>
                <a:rPr lang="es-ES" sz="1600" dirty="0"/>
                <a:t>Asesoría de finanzas,</a:t>
              </a:r>
            </a:p>
            <a:p>
              <a:pPr algn="ctr"/>
              <a:r>
                <a:rPr lang="es-ES" sz="1600" dirty="0"/>
                <a:t>Promoción de producto</a:t>
              </a:r>
            </a:p>
          </p:txBody>
        </p:sp>
        <p:sp>
          <p:nvSpPr>
            <p:cNvPr id="12" name="Rectángulo 11">
              <a:extLst>
                <a:ext uri="{FF2B5EF4-FFF2-40B4-BE49-F238E27FC236}">
                  <a16:creationId xmlns:a16="http://schemas.microsoft.com/office/drawing/2014/main" id="{884C0EA8-A65D-0077-DBD0-2FF0D9B1C365}"/>
                </a:ext>
              </a:extLst>
            </p:cNvPr>
            <p:cNvSpPr/>
            <p:nvPr/>
          </p:nvSpPr>
          <p:spPr>
            <a:xfrm>
              <a:off x="8506436" y="5119382"/>
              <a:ext cx="3407327" cy="1505825"/>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s-ES" sz="1600" b="1" dirty="0"/>
                <a:t>ALIANZAS CLAVE</a:t>
              </a:r>
              <a:br>
                <a:rPr lang="es-ES" sz="1600" dirty="0"/>
              </a:br>
              <a:endParaRPr lang="es-ES" sz="1600" dirty="0"/>
            </a:p>
            <a:p>
              <a:pPr algn="ctr"/>
              <a:r>
                <a:rPr lang="es-ES" sz="1600" dirty="0"/>
                <a:t>Promotores</a:t>
              </a:r>
              <a:endParaRPr lang="es-419" sz="1600" dirty="0"/>
            </a:p>
          </p:txBody>
        </p:sp>
        <p:sp>
          <p:nvSpPr>
            <p:cNvPr id="13" name="Rectángulo 12">
              <a:extLst>
                <a:ext uri="{FF2B5EF4-FFF2-40B4-BE49-F238E27FC236}">
                  <a16:creationId xmlns:a16="http://schemas.microsoft.com/office/drawing/2014/main" id="{10CF1C93-8198-AB61-3994-1F3BE9AEFBF2}"/>
                </a:ext>
              </a:extLst>
            </p:cNvPr>
            <p:cNvSpPr/>
            <p:nvPr/>
          </p:nvSpPr>
          <p:spPr>
            <a:xfrm>
              <a:off x="6769916" y="1021364"/>
              <a:ext cx="2332140" cy="2208398"/>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s-ES" sz="1600" b="1" dirty="0"/>
                <a:t>RECURSOS CLAVE</a:t>
              </a:r>
              <a:br>
                <a:rPr lang="es-ES" sz="1600" dirty="0"/>
              </a:br>
              <a:br>
                <a:rPr lang="es-ES" sz="1600" dirty="0"/>
              </a:br>
              <a:r>
                <a:rPr lang="es-ES" sz="1600" dirty="0"/>
                <a:t>Software</a:t>
              </a:r>
              <a:endParaRPr lang="es-419" sz="1600" dirty="0"/>
            </a:p>
          </p:txBody>
        </p:sp>
        <p:sp>
          <p:nvSpPr>
            <p:cNvPr id="14" name="Rectángulo 13">
              <a:extLst>
                <a:ext uri="{FF2B5EF4-FFF2-40B4-BE49-F238E27FC236}">
                  <a16:creationId xmlns:a16="http://schemas.microsoft.com/office/drawing/2014/main" id="{95EF017F-C092-11F7-937C-26E2007BFE61}"/>
                </a:ext>
              </a:extLst>
            </p:cNvPr>
            <p:cNvSpPr/>
            <p:nvPr/>
          </p:nvSpPr>
          <p:spPr>
            <a:xfrm>
              <a:off x="9286612" y="1021364"/>
              <a:ext cx="2627151" cy="2208398"/>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s-ES" sz="1600" b="1" dirty="0"/>
                <a:t>ESTRUCTURA COSTOS</a:t>
              </a:r>
              <a:br>
                <a:rPr lang="es-ES" sz="1600" dirty="0"/>
              </a:br>
              <a:endParaRPr lang="es-ES" sz="1600" dirty="0"/>
            </a:p>
            <a:p>
              <a:pPr algn="ctr"/>
              <a:r>
                <a:rPr lang="es-ES" sz="1600" dirty="0"/>
                <a:t>Personal de desarrollo,</a:t>
              </a:r>
            </a:p>
            <a:p>
              <a:pPr algn="ctr"/>
              <a:r>
                <a:rPr lang="es-ES" sz="1600" dirty="0"/>
                <a:t>asesoría y promoción</a:t>
              </a:r>
            </a:p>
          </p:txBody>
        </p:sp>
      </p:grpSp>
      <p:sp>
        <p:nvSpPr>
          <p:cNvPr id="15" name="CuadroTexto 14">
            <a:extLst>
              <a:ext uri="{FF2B5EF4-FFF2-40B4-BE49-F238E27FC236}">
                <a16:creationId xmlns:a16="http://schemas.microsoft.com/office/drawing/2014/main" id="{E77D222C-3A66-61EE-BF87-B5D70696B256}"/>
              </a:ext>
            </a:extLst>
          </p:cNvPr>
          <p:cNvSpPr txBox="1"/>
          <p:nvPr/>
        </p:nvSpPr>
        <p:spPr>
          <a:xfrm>
            <a:off x="220560" y="785116"/>
            <a:ext cx="11750879" cy="1077218"/>
          </a:xfrm>
          <a:prstGeom prst="rect">
            <a:avLst/>
          </a:prstGeom>
          <a:noFill/>
        </p:spPr>
        <p:txBody>
          <a:bodyPr wrap="square">
            <a:spAutoFit/>
          </a:bodyPr>
          <a:lstStyle/>
          <a:p>
            <a:r>
              <a:rPr lang="es-419" sz="1600" dirty="0"/>
              <a:t>Sistema que permita la gestión y administración contable de una pyme, permitiéndole complejas funcionalidades de transacción, programación, recordatorios y estadísticas, aparte de la intervención de una IA que provea consejos. Se permitirá la extensión del producto para clientes que lo soliciten, y si son características potables, se implementará como actualización para el resto de los clientes al año siguiente.</a:t>
            </a:r>
          </a:p>
        </p:txBody>
      </p:sp>
    </p:spTree>
    <p:extLst>
      <p:ext uri="{BB962C8B-B14F-4D97-AF65-F5344CB8AC3E}">
        <p14:creationId xmlns:p14="http://schemas.microsoft.com/office/powerpoint/2010/main" val="16681476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9ED6B5"/>
            </a:gs>
            <a:gs pos="50000">
              <a:srgbClr val="53E3B3"/>
            </a:gs>
            <a:gs pos="100000">
              <a:srgbClr val="366C4B"/>
            </a:gs>
          </a:gsLst>
          <a:lin ang="2520000" scaled="0"/>
        </a:gradFill>
        <a:effectLst/>
      </p:bgPr>
    </p:bg>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15C60C66-FBA5-394A-C74D-FAF64F473599}"/>
              </a:ext>
            </a:extLst>
          </p:cNvPr>
          <p:cNvSpPr/>
          <p:nvPr/>
        </p:nvSpPr>
        <p:spPr>
          <a:xfrm>
            <a:off x="0" y="-540"/>
            <a:ext cx="12192000" cy="830997"/>
          </a:xfrm>
          <a:prstGeom prst="rect">
            <a:avLst/>
          </a:prstGeom>
          <a:noFill/>
        </p:spPr>
        <p:txBody>
          <a:bodyPr wrap="square" lIns="91440" tIns="45720" rIns="91440" bIns="45720">
            <a:spAutoFit/>
          </a:bodyPr>
          <a:lstStyle/>
          <a:p>
            <a:pPr algn="ctr"/>
            <a:r>
              <a:rPr lang="es-ES" sz="4800" b="0" cap="none" spc="0" dirty="0">
                <a:ln w="0"/>
                <a:effectLst>
                  <a:outerShdw blurRad="38100" dist="25400" dir="5400000" algn="ctr" rotWithShape="0">
                    <a:srgbClr val="6E747A">
                      <a:alpha val="43000"/>
                    </a:srgbClr>
                  </a:outerShdw>
                </a:effectLst>
              </a:rPr>
              <a:t>SISTEMA DE STOCK PREDICTIVO</a:t>
            </a:r>
          </a:p>
        </p:txBody>
      </p:sp>
      <p:grpSp>
        <p:nvGrpSpPr>
          <p:cNvPr id="8" name="Grupo 7">
            <a:extLst>
              <a:ext uri="{FF2B5EF4-FFF2-40B4-BE49-F238E27FC236}">
                <a16:creationId xmlns:a16="http://schemas.microsoft.com/office/drawing/2014/main" id="{58E21914-09E5-F6D5-E1BC-6E398E690C5F}"/>
              </a:ext>
            </a:extLst>
          </p:cNvPr>
          <p:cNvGrpSpPr/>
          <p:nvPr/>
        </p:nvGrpSpPr>
        <p:grpSpPr>
          <a:xfrm>
            <a:off x="1198884" y="1971412"/>
            <a:ext cx="9794232" cy="4712517"/>
            <a:chOff x="267049" y="1021364"/>
            <a:chExt cx="11646716" cy="5603844"/>
          </a:xfrm>
        </p:grpSpPr>
        <p:sp>
          <p:nvSpPr>
            <p:cNvPr id="2" name="Rectángulo 1">
              <a:extLst>
                <a:ext uri="{FF2B5EF4-FFF2-40B4-BE49-F238E27FC236}">
                  <a16:creationId xmlns:a16="http://schemas.microsoft.com/office/drawing/2014/main" id="{ED91B968-1BC8-B18B-04E4-3DE9CC5128F5}"/>
                </a:ext>
              </a:extLst>
            </p:cNvPr>
            <p:cNvSpPr/>
            <p:nvPr/>
          </p:nvSpPr>
          <p:spPr>
            <a:xfrm>
              <a:off x="267050" y="1021364"/>
              <a:ext cx="3054990" cy="2208398"/>
            </a:xfrm>
            <a:prstGeom prst="rect">
              <a:avLst/>
            </a:prstGeom>
            <a:gradFill>
              <a:gsLst>
                <a:gs pos="20200">
                  <a:srgbClr val="59B67D"/>
                </a:gs>
                <a:gs pos="0">
                  <a:schemeClr val="accent3">
                    <a:tint val="94000"/>
                    <a:satMod val="103000"/>
                    <a:lumMod val="102000"/>
                  </a:schemeClr>
                </a:gs>
                <a:gs pos="50000">
                  <a:schemeClr val="accent3">
                    <a:shade val="100000"/>
                    <a:satMod val="110000"/>
                    <a:lumMod val="100000"/>
                  </a:schemeClr>
                </a:gs>
                <a:gs pos="100000">
                  <a:schemeClr val="accent3">
                    <a:shade val="78000"/>
                    <a:satMod val="120000"/>
                    <a:lumMod val="99000"/>
                  </a:schemeClr>
                </a:gs>
              </a:gsLst>
            </a:gradFill>
          </p:spPr>
          <p:style>
            <a:lnRef idx="0">
              <a:schemeClr val="accent3"/>
            </a:lnRef>
            <a:fillRef idx="3">
              <a:schemeClr val="accent3"/>
            </a:fillRef>
            <a:effectRef idx="3">
              <a:schemeClr val="accent3"/>
            </a:effectRef>
            <a:fontRef idx="minor">
              <a:schemeClr val="lt1"/>
            </a:fontRef>
          </p:style>
          <p:txBody>
            <a:bodyPr rtlCol="0" anchor="ctr"/>
            <a:lstStyle/>
            <a:p>
              <a:pPr algn="ctr"/>
              <a:r>
                <a:rPr lang="es-ES" sz="1600" b="1" dirty="0"/>
                <a:t>PROPUESTA DE VALOR</a:t>
              </a:r>
              <a:br>
                <a:rPr lang="es-ES" sz="1600" dirty="0"/>
              </a:br>
              <a:br>
                <a:rPr lang="es-ES" sz="1600" dirty="0"/>
              </a:br>
              <a:r>
                <a:rPr lang="es-ES" sz="1600" dirty="0"/>
                <a:t>Gestor de stock completo.</a:t>
              </a:r>
              <a:br>
                <a:rPr lang="es-ES" sz="1600" dirty="0"/>
              </a:br>
              <a:r>
                <a:rPr lang="es-ES" sz="1600" dirty="0"/>
                <a:t>Lectura de barras.</a:t>
              </a:r>
            </a:p>
            <a:p>
              <a:pPr algn="ctr"/>
              <a:r>
                <a:rPr lang="es-ES" sz="1600" dirty="0"/>
                <a:t>Uso de IA para reposición de stock.</a:t>
              </a:r>
              <a:endParaRPr lang="es-419" sz="1600" dirty="0"/>
            </a:p>
          </p:txBody>
        </p:sp>
        <p:sp>
          <p:nvSpPr>
            <p:cNvPr id="3" name="Rectángulo 2">
              <a:extLst>
                <a:ext uri="{FF2B5EF4-FFF2-40B4-BE49-F238E27FC236}">
                  <a16:creationId xmlns:a16="http://schemas.microsoft.com/office/drawing/2014/main" id="{8D61EA21-AF30-217F-D25D-50544AF59963}"/>
                </a:ext>
              </a:extLst>
            </p:cNvPr>
            <p:cNvSpPr/>
            <p:nvPr/>
          </p:nvSpPr>
          <p:spPr>
            <a:xfrm>
              <a:off x="4194499" y="3439487"/>
              <a:ext cx="4110602" cy="1505825"/>
            </a:xfrm>
            <a:prstGeom prst="rect">
              <a:avLst/>
            </a:prstGeom>
            <a:gradFill>
              <a:gsLst>
                <a:gs pos="20200">
                  <a:srgbClr val="59B67D"/>
                </a:gs>
                <a:gs pos="0">
                  <a:schemeClr val="accent3">
                    <a:tint val="94000"/>
                    <a:satMod val="103000"/>
                    <a:lumMod val="102000"/>
                  </a:schemeClr>
                </a:gs>
                <a:gs pos="50000">
                  <a:schemeClr val="accent3">
                    <a:shade val="100000"/>
                    <a:satMod val="110000"/>
                    <a:lumMod val="100000"/>
                  </a:schemeClr>
                </a:gs>
                <a:gs pos="100000">
                  <a:schemeClr val="accent3">
                    <a:shade val="78000"/>
                    <a:satMod val="120000"/>
                    <a:lumMod val="99000"/>
                  </a:schemeClr>
                </a:gs>
              </a:gsLst>
            </a:gradFill>
          </p:spPr>
          <p:style>
            <a:lnRef idx="0">
              <a:schemeClr val="accent3"/>
            </a:lnRef>
            <a:fillRef idx="3">
              <a:schemeClr val="accent3"/>
            </a:fillRef>
            <a:effectRef idx="3">
              <a:schemeClr val="accent3"/>
            </a:effectRef>
            <a:fontRef idx="minor">
              <a:schemeClr val="lt1"/>
            </a:fontRef>
          </p:style>
          <p:txBody>
            <a:bodyPr rtlCol="0" anchor="ctr"/>
            <a:lstStyle/>
            <a:p>
              <a:pPr algn="ctr"/>
              <a:r>
                <a:rPr lang="es-ES" sz="1600" b="1" dirty="0"/>
                <a:t>SEGMENTO DE CLIENTES</a:t>
              </a:r>
              <a:br>
                <a:rPr lang="es-ES" sz="1600" dirty="0"/>
              </a:br>
              <a:br>
                <a:rPr lang="es-ES" sz="1600" dirty="0"/>
              </a:br>
              <a:r>
                <a:rPr lang="es-ES" sz="1600" dirty="0"/>
                <a:t>Pymes dispuestas a invertir en logística de stock.</a:t>
              </a:r>
              <a:endParaRPr lang="es-419" sz="1600" dirty="0"/>
            </a:p>
          </p:txBody>
        </p:sp>
        <p:sp>
          <p:nvSpPr>
            <p:cNvPr id="4" name="Rectángulo 3">
              <a:extLst>
                <a:ext uri="{FF2B5EF4-FFF2-40B4-BE49-F238E27FC236}">
                  <a16:creationId xmlns:a16="http://schemas.microsoft.com/office/drawing/2014/main" id="{7F29F8FC-C01C-C7D6-3107-087F16FA0756}"/>
                </a:ext>
              </a:extLst>
            </p:cNvPr>
            <p:cNvSpPr/>
            <p:nvPr/>
          </p:nvSpPr>
          <p:spPr>
            <a:xfrm>
              <a:off x="4194497" y="5119382"/>
              <a:ext cx="4110603" cy="1505826"/>
            </a:xfrm>
            <a:prstGeom prst="rect">
              <a:avLst/>
            </a:prstGeom>
            <a:gradFill>
              <a:gsLst>
                <a:gs pos="20200">
                  <a:srgbClr val="59B67D"/>
                </a:gs>
                <a:gs pos="0">
                  <a:schemeClr val="accent3">
                    <a:tint val="94000"/>
                    <a:satMod val="103000"/>
                    <a:lumMod val="102000"/>
                  </a:schemeClr>
                </a:gs>
                <a:gs pos="50000">
                  <a:schemeClr val="accent3">
                    <a:shade val="100000"/>
                    <a:satMod val="110000"/>
                    <a:lumMod val="100000"/>
                  </a:schemeClr>
                </a:gs>
                <a:gs pos="100000">
                  <a:schemeClr val="accent3">
                    <a:shade val="78000"/>
                    <a:satMod val="120000"/>
                    <a:lumMod val="99000"/>
                  </a:schemeClr>
                </a:gs>
              </a:gsLst>
            </a:gradFill>
          </p:spPr>
          <p:style>
            <a:lnRef idx="0">
              <a:schemeClr val="accent3"/>
            </a:lnRef>
            <a:fillRef idx="3">
              <a:schemeClr val="accent3"/>
            </a:fillRef>
            <a:effectRef idx="3">
              <a:schemeClr val="accent3"/>
            </a:effectRef>
            <a:fontRef idx="minor">
              <a:schemeClr val="lt1"/>
            </a:fontRef>
          </p:style>
          <p:txBody>
            <a:bodyPr rtlCol="0" anchor="ctr"/>
            <a:lstStyle/>
            <a:p>
              <a:pPr algn="ctr"/>
              <a:r>
                <a:rPr lang="es-ES" sz="1600" b="1" dirty="0"/>
                <a:t>CANALES</a:t>
              </a:r>
              <a:br>
                <a:rPr lang="es-ES" sz="1600" dirty="0"/>
              </a:br>
              <a:endParaRPr lang="es-ES" sz="1600" dirty="0"/>
            </a:p>
            <a:p>
              <a:pPr algn="ctr"/>
              <a:r>
                <a:rPr lang="es-ES" sz="1600" dirty="0"/>
                <a:t>Redes sociales y foros, promoción puerta a puerta.</a:t>
              </a:r>
              <a:endParaRPr lang="es-419" sz="1600" dirty="0"/>
            </a:p>
          </p:txBody>
        </p:sp>
        <p:sp>
          <p:nvSpPr>
            <p:cNvPr id="5" name="Rectángulo 4">
              <a:extLst>
                <a:ext uri="{FF2B5EF4-FFF2-40B4-BE49-F238E27FC236}">
                  <a16:creationId xmlns:a16="http://schemas.microsoft.com/office/drawing/2014/main" id="{FD54DF5B-C7E1-2D0C-4C48-DC9F34495B91}"/>
                </a:ext>
              </a:extLst>
            </p:cNvPr>
            <p:cNvSpPr/>
            <p:nvPr/>
          </p:nvSpPr>
          <p:spPr>
            <a:xfrm>
              <a:off x="8506438" y="3439487"/>
              <a:ext cx="3407327" cy="1505825"/>
            </a:xfrm>
            <a:prstGeom prst="rect">
              <a:avLst/>
            </a:prstGeom>
            <a:gradFill>
              <a:gsLst>
                <a:gs pos="20200">
                  <a:srgbClr val="59B67D"/>
                </a:gs>
                <a:gs pos="0">
                  <a:schemeClr val="accent3">
                    <a:tint val="94000"/>
                    <a:satMod val="103000"/>
                    <a:lumMod val="102000"/>
                  </a:schemeClr>
                </a:gs>
                <a:gs pos="50000">
                  <a:schemeClr val="accent3">
                    <a:shade val="100000"/>
                    <a:satMod val="110000"/>
                    <a:lumMod val="100000"/>
                  </a:schemeClr>
                </a:gs>
                <a:gs pos="100000">
                  <a:schemeClr val="accent3">
                    <a:shade val="78000"/>
                    <a:satMod val="120000"/>
                    <a:lumMod val="99000"/>
                  </a:schemeClr>
                </a:gs>
              </a:gsLst>
            </a:gradFill>
          </p:spPr>
          <p:style>
            <a:lnRef idx="0">
              <a:schemeClr val="accent3"/>
            </a:lnRef>
            <a:fillRef idx="3">
              <a:schemeClr val="accent3"/>
            </a:fillRef>
            <a:effectRef idx="3">
              <a:schemeClr val="accent3"/>
            </a:effectRef>
            <a:fontRef idx="minor">
              <a:schemeClr val="lt1"/>
            </a:fontRef>
          </p:style>
          <p:txBody>
            <a:bodyPr rtlCol="0" anchor="ctr"/>
            <a:lstStyle/>
            <a:p>
              <a:pPr algn="ctr"/>
              <a:r>
                <a:rPr lang="es-ES" sz="1600" b="1" dirty="0" err="1"/>
                <a:t>RELACION</a:t>
              </a:r>
              <a:r>
                <a:rPr lang="es-ES" sz="1600" b="1" dirty="0"/>
                <a:t> CON CLIENTES</a:t>
              </a:r>
              <a:br>
                <a:rPr lang="es-ES" sz="1600" dirty="0"/>
              </a:br>
              <a:endParaRPr lang="es-ES" sz="1600" dirty="0"/>
            </a:p>
            <a:p>
              <a:pPr algn="ctr"/>
              <a:r>
                <a:rPr lang="es-ES" sz="1600" dirty="0"/>
                <a:t>Número de contacto, mail. Nada proactivo.</a:t>
              </a:r>
              <a:endParaRPr lang="es-419" sz="1600" dirty="0"/>
            </a:p>
          </p:txBody>
        </p:sp>
        <p:sp>
          <p:nvSpPr>
            <p:cNvPr id="6" name="Rectángulo 5">
              <a:extLst>
                <a:ext uri="{FF2B5EF4-FFF2-40B4-BE49-F238E27FC236}">
                  <a16:creationId xmlns:a16="http://schemas.microsoft.com/office/drawing/2014/main" id="{0C6B0E96-CF1A-3B26-BE1F-D4F7D445982C}"/>
                </a:ext>
              </a:extLst>
            </p:cNvPr>
            <p:cNvSpPr/>
            <p:nvPr/>
          </p:nvSpPr>
          <p:spPr>
            <a:xfrm>
              <a:off x="267049" y="3439487"/>
              <a:ext cx="3717721" cy="3185720"/>
            </a:xfrm>
            <a:prstGeom prst="rect">
              <a:avLst/>
            </a:prstGeom>
            <a:gradFill>
              <a:gsLst>
                <a:gs pos="20200">
                  <a:srgbClr val="59B67D"/>
                </a:gs>
                <a:gs pos="0">
                  <a:schemeClr val="accent3">
                    <a:tint val="94000"/>
                    <a:satMod val="103000"/>
                    <a:lumMod val="102000"/>
                  </a:schemeClr>
                </a:gs>
                <a:gs pos="50000">
                  <a:schemeClr val="accent3">
                    <a:shade val="100000"/>
                    <a:satMod val="110000"/>
                    <a:lumMod val="100000"/>
                  </a:schemeClr>
                </a:gs>
                <a:gs pos="100000">
                  <a:schemeClr val="accent3">
                    <a:shade val="78000"/>
                    <a:satMod val="120000"/>
                    <a:lumMod val="99000"/>
                  </a:schemeClr>
                </a:gs>
              </a:gsLst>
            </a:gradFill>
          </p:spPr>
          <p:style>
            <a:lnRef idx="0">
              <a:schemeClr val="accent3"/>
            </a:lnRef>
            <a:fillRef idx="3">
              <a:schemeClr val="accent3"/>
            </a:fillRef>
            <a:effectRef idx="3">
              <a:schemeClr val="accent3"/>
            </a:effectRef>
            <a:fontRef idx="minor">
              <a:schemeClr val="lt1"/>
            </a:fontRef>
          </p:style>
          <p:txBody>
            <a:bodyPr rtlCol="0" anchor="ctr"/>
            <a:lstStyle/>
            <a:p>
              <a:pPr algn="ctr"/>
              <a:r>
                <a:rPr lang="es-ES" sz="1600" b="1" dirty="0"/>
                <a:t>FUENTES DE INGRESOS</a:t>
              </a:r>
              <a:br>
                <a:rPr lang="es-ES" sz="1600" dirty="0"/>
              </a:br>
              <a:endParaRPr lang="es-ES" sz="1600" dirty="0"/>
            </a:p>
            <a:p>
              <a:pPr algn="ctr"/>
              <a:r>
                <a:rPr lang="es-ES" sz="1600" dirty="0"/>
                <a:t>Venta de producto base,</a:t>
              </a:r>
            </a:p>
            <a:p>
              <a:pPr algn="ctr"/>
              <a:r>
                <a:rPr lang="es-ES" sz="1600" dirty="0"/>
                <a:t>Suscripción acceso base de datos,</a:t>
              </a:r>
            </a:p>
            <a:p>
              <a:pPr algn="ctr"/>
              <a:r>
                <a:rPr lang="es-ES" sz="1600" dirty="0"/>
                <a:t>Extensión de características</a:t>
              </a:r>
              <a:endParaRPr lang="es-419" sz="1600" dirty="0"/>
            </a:p>
          </p:txBody>
        </p:sp>
        <p:sp>
          <p:nvSpPr>
            <p:cNvPr id="10" name="Rectángulo 9">
              <a:extLst>
                <a:ext uri="{FF2B5EF4-FFF2-40B4-BE49-F238E27FC236}">
                  <a16:creationId xmlns:a16="http://schemas.microsoft.com/office/drawing/2014/main" id="{B0C42D28-85AD-A250-A569-48CB3CCCE375}"/>
                </a:ext>
              </a:extLst>
            </p:cNvPr>
            <p:cNvSpPr/>
            <p:nvPr/>
          </p:nvSpPr>
          <p:spPr>
            <a:xfrm>
              <a:off x="3510794" y="1021364"/>
              <a:ext cx="3054990" cy="2208398"/>
            </a:xfrm>
            <a:prstGeom prst="rect">
              <a:avLst/>
            </a:prstGeom>
            <a:gradFill>
              <a:gsLst>
                <a:gs pos="20200">
                  <a:srgbClr val="59B67D"/>
                </a:gs>
                <a:gs pos="0">
                  <a:schemeClr val="accent3">
                    <a:tint val="94000"/>
                    <a:satMod val="103000"/>
                    <a:lumMod val="102000"/>
                  </a:schemeClr>
                </a:gs>
                <a:gs pos="50000">
                  <a:schemeClr val="accent3">
                    <a:shade val="100000"/>
                    <a:satMod val="110000"/>
                    <a:lumMod val="100000"/>
                  </a:schemeClr>
                </a:gs>
                <a:gs pos="100000">
                  <a:schemeClr val="accent3">
                    <a:shade val="78000"/>
                    <a:satMod val="120000"/>
                    <a:lumMod val="99000"/>
                  </a:schemeClr>
                </a:gs>
              </a:gsLst>
            </a:gradFill>
          </p:spPr>
          <p:style>
            <a:lnRef idx="0">
              <a:schemeClr val="accent3"/>
            </a:lnRef>
            <a:fillRef idx="3">
              <a:schemeClr val="accent3"/>
            </a:fillRef>
            <a:effectRef idx="3">
              <a:schemeClr val="accent3"/>
            </a:effectRef>
            <a:fontRef idx="minor">
              <a:schemeClr val="lt1"/>
            </a:fontRef>
          </p:style>
          <p:txBody>
            <a:bodyPr rtlCol="0" anchor="ctr"/>
            <a:lstStyle/>
            <a:p>
              <a:pPr algn="ctr"/>
              <a:r>
                <a:rPr lang="es-ES" sz="1600" b="1" dirty="0"/>
                <a:t>ACTIVIDADES CLAVE</a:t>
              </a:r>
              <a:br>
                <a:rPr lang="es-ES" sz="1600" dirty="0"/>
              </a:br>
              <a:endParaRPr lang="es-ES" sz="1600" dirty="0"/>
            </a:p>
            <a:p>
              <a:pPr algn="ctr"/>
              <a:r>
                <a:rPr lang="es-ES" sz="1600" dirty="0"/>
                <a:t>Desarrollo de software,</a:t>
              </a:r>
            </a:p>
            <a:p>
              <a:pPr algn="ctr"/>
              <a:r>
                <a:rPr lang="es-ES" sz="1600" dirty="0"/>
                <a:t>Manutención de servidores,</a:t>
              </a:r>
            </a:p>
            <a:p>
              <a:pPr algn="ctr"/>
              <a:r>
                <a:rPr lang="es-ES" sz="1600" dirty="0"/>
                <a:t>Promoción de producto</a:t>
              </a:r>
            </a:p>
          </p:txBody>
        </p:sp>
        <p:sp>
          <p:nvSpPr>
            <p:cNvPr id="12" name="Rectángulo 11">
              <a:extLst>
                <a:ext uri="{FF2B5EF4-FFF2-40B4-BE49-F238E27FC236}">
                  <a16:creationId xmlns:a16="http://schemas.microsoft.com/office/drawing/2014/main" id="{884C0EA8-A65D-0077-DBD0-2FF0D9B1C365}"/>
                </a:ext>
              </a:extLst>
            </p:cNvPr>
            <p:cNvSpPr/>
            <p:nvPr/>
          </p:nvSpPr>
          <p:spPr>
            <a:xfrm>
              <a:off x="8506436" y="5119382"/>
              <a:ext cx="3407327" cy="1505825"/>
            </a:xfrm>
            <a:prstGeom prst="rect">
              <a:avLst/>
            </a:prstGeom>
            <a:gradFill>
              <a:gsLst>
                <a:gs pos="20200">
                  <a:srgbClr val="59B67D"/>
                </a:gs>
                <a:gs pos="0">
                  <a:schemeClr val="accent3">
                    <a:tint val="94000"/>
                    <a:satMod val="103000"/>
                    <a:lumMod val="102000"/>
                  </a:schemeClr>
                </a:gs>
                <a:gs pos="50000">
                  <a:schemeClr val="accent3">
                    <a:shade val="100000"/>
                    <a:satMod val="110000"/>
                    <a:lumMod val="100000"/>
                  </a:schemeClr>
                </a:gs>
                <a:gs pos="100000">
                  <a:schemeClr val="accent3">
                    <a:shade val="78000"/>
                    <a:satMod val="120000"/>
                    <a:lumMod val="99000"/>
                  </a:schemeClr>
                </a:gs>
              </a:gsLst>
            </a:gradFill>
          </p:spPr>
          <p:style>
            <a:lnRef idx="0">
              <a:schemeClr val="accent3"/>
            </a:lnRef>
            <a:fillRef idx="3">
              <a:schemeClr val="accent3"/>
            </a:fillRef>
            <a:effectRef idx="3">
              <a:schemeClr val="accent3"/>
            </a:effectRef>
            <a:fontRef idx="minor">
              <a:schemeClr val="lt1"/>
            </a:fontRef>
          </p:style>
          <p:txBody>
            <a:bodyPr rtlCol="0" anchor="ctr"/>
            <a:lstStyle/>
            <a:p>
              <a:pPr algn="ctr"/>
              <a:r>
                <a:rPr lang="es-ES" sz="1600" b="1" dirty="0"/>
                <a:t>ALIANZAS CLAVE</a:t>
              </a:r>
              <a:br>
                <a:rPr lang="es-ES" sz="1600" dirty="0"/>
              </a:br>
              <a:endParaRPr lang="es-ES" sz="1600" dirty="0"/>
            </a:p>
            <a:p>
              <a:pPr algn="ctr"/>
              <a:r>
                <a:rPr lang="es-ES" sz="1600" dirty="0"/>
                <a:t>Promotores,</a:t>
              </a:r>
            </a:p>
            <a:p>
              <a:pPr algn="ctr"/>
              <a:r>
                <a:rPr lang="es-ES" sz="1600" dirty="0"/>
                <a:t>Proveedores de base de datos</a:t>
              </a:r>
              <a:endParaRPr lang="es-419" sz="1600" dirty="0"/>
            </a:p>
          </p:txBody>
        </p:sp>
        <p:sp>
          <p:nvSpPr>
            <p:cNvPr id="13" name="Rectángulo 12">
              <a:extLst>
                <a:ext uri="{FF2B5EF4-FFF2-40B4-BE49-F238E27FC236}">
                  <a16:creationId xmlns:a16="http://schemas.microsoft.com/office/drawing/2014/main" id="{10CF1C93-8198-AB61-3994-1F3BE9AEFBF2}"/>
                </a:ext>
              </a:extLst>
            </p:cNvPr>
            <p:cNvSpPr/>
            <p:nvPr/>
          </p:nvSpPr>
          <p:spPr>
            <a:xfrm>
              <a:off x="6769916" y="1021364"/>
              <a:ext cx="2063691" cy="2208398"/>
            </a:xfrm>
            <a:prstGeom prst="rect">
              <a:avLst/>
            </a:prstGeom>
            <a:gradFill>
              <a:gsLst>
                <a:gs pos="20200">
                  <a:srgbClr val="59B67D"/>
                </a:gs>
                <a:gs pos="0">
                  <a:schemeClr val="accent3">
                    <a:tint val="94000"/>
                    <a:satMod val="103000"/>
                    <a:lumMod val="102000"/>
                  </a:schemeClr>
                </a:gs>
                <a:gs pos="50000">
                  <a:schemeClr val="accent3">
                    <a:shade val="100000"/>
                    <a:satMod val="110000"/>
                    <a:lumMod val="100000"/>
                  </a:schemeClr>
                </a:gs>
                <a:gs pos="100000">
                  <a:schemeClr val="accent3">
                    <a:shade val="78000"/>
                    <a:satMod val="120000"/>
                    <a:lumMod val="99000"/>
                  </a:schemeClr>
                </a:gs>
              </a:gsLst>
            </a:gradFill>
          </p:spPr>
          <p:style>
            <a:lnRef idx="0">
              <a:schemeClr val="accent3"/>
            </a:lnRef>
            <a:fillRef idx="3">
              <a:schemeClr val="accent3"/>
            </a:fillRef>
            <a:effectRef idx="3">
              <a:schemeClr val="accent3"/>
            </a:effectRef>
            <a:fontRef idx="minor">
              <a:schemeClr val="lt1"/>
            </a:fontRef>
          </p:style>
          <p:txBody>
            <a:bodyPr rtlCol="0" anchor="ctr"/>
            <a:lstStyle/>
            <a:p>
              <a:pPr algn="ctr"/>
              <a:r>
                <a:rPr lang="es-ES" sz="1600" b="1" dirty="0"/>
                <a:t>RECURSOS CLAVE</a:t>
              </a:r>
              <a:br>
                <a:rPr lang="es-ES" sz="1600" dirty="0"/>
              </a:br>
              <a:br>
                <a:rPr lang="es-ES" sz="1600" dirty="0"/>
              </a:br>
              <a:r>
                <a:rPr lang="es-ES" sz="1600" dirty="0"/>
                <a:t>Software,</a:t>
              </a:r>
            </a:p>
            <a:p>
              <a:pPr algn="ctr"/>
              <a:r>
                <a:rPr lang="es-ES" sz="1600" dirty="0"/>
                <a:t>Servidores</a:t>
              </a:r>
              <a:endParaRPr lang="es-419" sz="1600" dirty="0"/>
            </a:p>
          </p:txBody>
        </p:sp>
        <p:sp>
          <p:nvSpPr>
            <p:cNvPr id="14" name="Rectángulo 13">
              <a:extLst>
                <a:ext uri="{FF2B5EF4-FFF2-40B4-BE49-F238E27FC236}">
                  <a16:creationId xmlns:a16="http://schemas.microsoft.com/office/drawing/2014/main" id="{95EF017F-C092-11F7-937C-26E2007BFE61}"/>
                </a:ext>
              </a:extLst>
            </p:cNvPr>
            <p:cNvSpPr/>
            <p:nvPr/>
          </p:nvSpPr>
          <p:spPr>
            <a:xfrm>
              <a:off x="9037739" y="1021364"/>
              <a:ext cx="2876023" cy="2208398"/>
            </a:xfrm>
            <a:prstGeom prst="rect">
              <a:avLst/>
            </a:prstGeom>
            <a:gradFill>
              <a:gsLst>
                <a:gs pos="20200">
                  <a:srgbClr val="59B67D"/>
                </a:gs>
                <a:gs pos="0">
                  <a:schemeClr val="accent3">
                    <a:tint val="94000"/>
                    <a:satMod val="103000"/>
                    <a:lumMod val="102000"/>
                  </a:schemeClr>
                </a:gs>
                <a:gs pos="50000">
                  <a:schemeClr val="accent3">
                    <a:shade val="100000"/>
                    <a:satMod val="110000"/>
                    <a:lumMod val="100000"/>
                  </a:schemeClr>
                </a:gs>
                <a:gs pos="100000">
                  <a:schemeClr val="accent3">
                    <a:shade val="78000"/>
                    <a:satMod val="120000"/>
                    <a:lumMod val="99000"/>
                  </a:schemeClr>
                </a:gs>
              </a:gsLst>
            </a:gradFill>
          </p:spPr>
          <p:style>
            <a:lnRef idx="0">
              <a:schemeClr val="accent3"/>
            </a:lnRef>
            <a:fillRef idx="3">
              <a:schemeClr val="accent3"/>
            </a:fillRef>
            <a:effectRef idx="3">
              <a:schemeClr val="accent3"/>
            </a:effectRef>
            <a:fontRef idx="minor">
              <a:schemeClr val="lt1"/>
            </a:fontRef>
          </p:style>
          <p:txBody>
            <a:bodyPr rtlCol="0" anchor="ctr"/>
            <a:lstStyle/>
            <a:p>
              <a:pPr algn="ctr"/>
              <a:r>
                <a:rPr lang="es-ES" sz="1600" b="1" dirty="0"/>
                <a:t>ESTRUCTURA COSTOS</a:t>
              </a:r>
              <a:br>
                <a:rPr lang="es-ES" sz="1600" dirty="0"/>
              </a:br>
              <a:endParaRPr lang="es-ES" sz="1600" dirty="0"/>
            </a:p>
            <a:p>
              <a:pPr algn="ctr"/>
              <a:r>
                <a:rPr lang="es-ES" sz="1600" dirty="0"/>
                <a:t>Personal de desarrollo,</a:t>
              </a:r>
            </a:p>
            <a:p>
              <a:pPr algn="ctr"/>
              <a:r>
                <a:rPr lang="es-ES" sz="1600" dirty="0"/>
                <a:t>Manutención de servidores y promoción</a:t>
              </a:r>
            </a:p>
          </p:txBody>
        </p:sp>
      </p:grpSp>
      <p:sp>
        <p:nvSpPr>
          <p:cNvPr id="9" name="CuadroTexto 8">
            <a:extLst>
              <a:ext uri="{FF2B5EF4-FFF2-40B4-BE49-F238E27FC236}">
                <a16:creationId xmlns:a16="http://schemas.microsoft.com/office/drawing/2014/main" id="{5D1117F1-4C86-23FB-31CD-DF29C26CAC56}"/>
              </a:ext>
            </a:extLst>
          </p:cNvPr>
          <p:cNvSpPr txBox="1"/>
          <p:nvPr/>
        </p:nvSpPr>
        <p:spPr>
          <a:xfrm>
            <a:off x="220560" y="785116"/>
            <a:ext cx="11750879" cy="1169551"/>
          </a:xfrm>
          <a:prstGeom prst="rect">
            <a:avLst/>
          </a:prstGeom>
          <a:noFill/>
        </p:spPr>
        <p:txBody>
          <a:bodyPr wrap="square">
            <a:spAutoFit/>
          </a:bodyPr>
          <a:lstStyle/>
          <a:p>
            <a:r>
              <a:rPr lang="es-419" sz="1400" dirty="0"/>
              <a:t>Sistema que permita la gestión de stock completa de una pyme, permitiéndole complejas funcionalidades de organización, como distribución y supervisión de vencimiento, aparte de la intervención de una IA que prediga el suministro de stock. Adicionalmente, una base de datos como servicio que provea automáticamente información relevante del producto en función a su código de barras. Se permitirá la extensión del producto para clientes que lo soliciten, y si son características potables, se implementará como actualización para el resto de los clientes al año siguiente.</a:t>
            </a:r>
          </a:p>
        </p:txBody>
      </p:sp>
    </p:spTree>
    <p:extLst>
      <p:ext uri="{BB962C8B-B14F-4D97-AF65-F5344CB8AC3E}">
        <p14:creationId xmlns:p14="http://schemas.microsoft.com/office/powerpoint/2010/main" val="29873862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F75757"/>
            </a:gs>
            <a:gs pos="50000">
              <a:srgbClr val="D40A0A"/>
            </a:gs>
            <a:gs pos="100000">
              <a:srgbClr val="8A042D"/>
            </a:gs>
          </a:gsLst>
          <a:lin ang="2520000" scaled="0"/>
        </a:gradFill>
        <a:effectLst/>
      </p:bgPr>
    </p:bg>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15C60C66-FBA5-394A-C74D-FAF64F473599}"/>
              </a:ext>
            </a:extLst>
          </p:cNvPr>
          <p:cNvSpPr/>
          <p:nvPr/>
        </p:nvSpPr>
        <p:spPr>
          <a:xfrm>
            <a:off x="0" y="-540"/>
            <a:ext cx="12192000" cy="830997"/>
          </a:xfrm>
          <a:prstGeom prst="rect">
            <a:avLst/>
          </a:prstGeom>
          <a:noFill/>
        </p:spPr>
        <p:txBody>
          <a:bodyPr wrap="square" lIns="91440" tIns="45720" rIns="91440" bIns="45720">
            <a:spAutoFit/>
          </a:bodyPr>
          <a:lstStyle/>
          <a:p>
            <a:pPr algn="ctr"/>
            <a:r>
              <a:rPr lang="es-ES" sz="4800" dirty="0">
                <a:ln w="0"/>
                <a:effectLst>
                  <a:outerShdw blurRad="38100" dist="25400" dir="5400000" algn="ctr" rotWithShape="0">
                    <a:srgbClr val="6E747A">
                      <a:alpha val="43000"/>
                    </a:srgbClr>
                  </a:outerShdw>
                </a:effectLst>
              </a:rPr>
              <a:t>SISTEMA DE </a:t>
            </a:r>
            <a:r>
              <a:rPr lang="es-ES" sz="4800" dirty="0" err="1">
                <a:ln w="0"/>
                <a:effectLst>
                  <a:outerShdw blurRad="38100" dist="25400" dir="5400000" algn="ctr" rotWithShape="0">
                    <a:srgbClr val="6E747A">
                      <a:alpha val="43000"/>
                    </a:srgbClr>
                  </a:outerShdw>
                </a:effectLst>
              </a:rPr>
              <a:t>GARAGE</a:t>
            </a:r>
            <a:endParaRPr lang="es-ES" sz="4800" b="0" cap="none" spc="0" dirty="0">
              <a:ln w="0"/>
              <a:effectLst>
                <a:outerShdw blurRad="38100" dist="25400" dir="5400000" algn="ctr" rotWithShape="0">
                  <a:srgbClr val="6E747A">
                    <a:alpha val="43000"/>
                  </a:srgbClr>
                </a:outerShdw>
              </a:effectLst>
            </a:endParaRPr>
          </a:p>
        </p:txBody>
      </p:sp>
      <p:grpSp>
        <p:nvGrpSpPr>
          <p:cNvPr id="8" name="Grupo 7">
            <a:extLst>
              <a:ext uri="{FF2B5EF4-FFF2-40B4-BE49-F238E27FC236}">
                <a16:creationId xmlns:a16="http://schemas.microsoft.com/office/drawing/2014/main" id="{1266DBCE-EE84-1458-3C53-038BE9CE5E4D}"/>
              </a:ext>
            </a:extLst>
          </p:cNvPr>
          <p:cNvGrpSpPr/>
          <p:nvPr/>
        </p:nvGrpSpPr>
        <p:grpSpPr>
          <a:xfrm>
            <a:off x="1216318" y="2004969"/>
            <a:ext cx="9759363" cy="4695740"/>
            <a:chOff x="267049" y="1021364"/>
            <a:chExt cx="11646716" cy="5603844"/>
          </a:xfrm>
        </p:grpSpPr>
        <p:sp>
          <p:nvSpPr>
            <p:cNvPr id="2" name="Rectángulo 1">
              <a:extLst>
                <a:ext uri="{FF2B5EF4-FFF2-40B4-BE49-F238E27FC236}">
                  <a16:creationId xmlns:a16="http://schemas.microsoft.com/office/drawing/2014/main" id="{ED91B968-1BC8-B18B-04E4-3DE9CC5128F5}"/>
                </a:ext>
              </a:extLst>
            </p:cNvPr>
            <p:cNvSpPr/>
            <p:nvPr/>
          </p:nvSpPr>
          <p:spPr>
            <a:xfrm>
              <a:off x="267049" y="1021364"/>
              <a:ext cx="3397541" cy="2208398"/>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s-ES" sz="1600" b="1" dirty="0"/>
                <a:t>PROPUESTA DE VALOR</a:t>
              </a:r>
              <a:br>
                <a:rPr lang="es-ES" sz="1600" dirty="0"/>
              </a:br>
              <a:br>
                <a:rPr lang="es-ES" sz="1600" dirty="0"/>
              </a:br>
              <a:r>
                <a:rPr lang="es-ES" sz="1600" dirty="0"/>
                <a:t>Sistema de reserva de </a:t>
              </a:r>
              <a:r>
                <a:rPr lang="es-ES" sz="1600" dirty="0" err="1"/>
                <a:t>garage</a:t>
              </a:r>
              <a:r>
                <a:rPr lang="es-ES" sz="1600" dirty="0"/>
                <a:t> orientado (pero no limitado) a edificios empresariales</a:t>
              </a:r>
              <a:endParaRPr lang="es-419" sz="1600" dirty="0"/>
            </a:p>
          </p:txBody>
        </p:sp>
        <p:sp>
          <p:nvSpPr>
            <p:cNvPr id="3" name="Rectángulo 2">
              <a:extLst>
                <a:ext uri="{FF2B5EF4-FFF2-40B4-BE49-F238E27FC236}">
                  <a16:creationId xmlns:a16="http://schemas.microsoft.com/office/drawing/2014/main" id="{8D61EA21-AF30-217F-D25D-50544AF59963}"/>
                </a:ext>
              </a:extLst>
            </p:cNvPr>
            <p:cNvSpPr/>
            <p:nvPr/>
          </p:nvSpPr>
          <p:spPr>
            <a:xfrm>
              <a:off x="3347207" y="3439487"/>
              <a:ext cx="4957894" cy="1505825"/>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s-ES" sz="1600" b="1" dirty="0"/>
                <a:t>SEGMENTO DE CLIENTES</a:t>
              </a:r>
              <a:br>
                <a:rPr lang="es-ES" sz="1600" dirty="0"/>
              </a:br>
              <a:br>
                <a:rPr lang="es-ES" sz="1600" dirty="0"/>
              </a:br>
              <a:r>
                <a:rPr lang="es-ES" sz="1600" dirty="0"/>
                <a:t>Edificios empresariales, no empresariales y </a:t>
              </a:r>
              <a:r>
                <a:rPr lang="es-ES" sz="1600" dirty="0" err="1"/>
                <a:t>garages</a:t>
              </a:r>
              <a:r>
                <a:rPr lang="es-ES" sz="1600" dirty="0"/>
                <a:t> independientes.</a:t>
              </a:r>
              <a:endParaRPr lang="es-419" sz="1600" dirty="0"/>
            </a:p>
          </p:txBody>
        </p:sp>
        <p:sp>
          <p:nvSpPr>
            <p:cNvPr id="4" name="Rectángulo 3">
              <a:extLst>
                <a:ext uri="{FF2B5EF4-FFF2-40B4-BE49-F238E27FC236}">
                  <a16:creationId xmlns:a16="http://schemas.microsoft.com/office/drawing/2014/main" id="{7F29F8FC-C01C-C7D6-3107-087F16FA0756}"/>
                </a:ext>
              </a:extLst>
            </p:cNvPr>
            <p:cNvSpPr/>
            <p:nvPr/>
          </p:nvSpPr>
          <p:spPr>
            <a:xfrm>
              <a:off x="3347207" y="5119382"/>
              <a:ext cx="4957894" cy="1505826"/>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s-ES" sz="1600" b="1" dirty="0"/>
                <a:t>CANALES</a:t>
              </a:r>
              <a:br>
                <a:rPr lang="es-ES" sz="1600" dirty="0"/>
              </a:br>
              <a:endParaRPr lang="es-ES" sz="1600" dirty="0"/>
            </a:p>
            <a:p>
              <a:pPr algn="ctr"/>
              <a:r>
                <a:rPr lang="es-ES" sz="1600" dirty="0"/>
                <a:t>Redes sociales y foros, promoción puerta a puerta.</a:t>
              </a:r>
              <a:endParaRPr lang="es-419" sz="1600" dirty="0"/>
            </a:p>
          </p:txBody>
        </p:sp>
        <p:sp>
          <p:nvSpPr>
            <p:cNvPr id="5" name="Rectángulo 4">
              <a:extLst>
                <a:ext uri="{FF2B5EF4-FFF2-40B4-BE49-F238E27FC236}">
                  <a16:creationId xmlns:a16="http://schemas.microsoft.com/office/drawing/2014/main" id="{FD54DF5B-C7E1-2D0C-4C48-DC9F34495B91}"/>
                </a:ext>
              </a:extLst>
            </p:cNvPr>
            <p:cNvSpPr/>
            <p:nvPr/>
          </p:nvSpPr>
          <p:spPr>
            <a:xfrm>
              <a:off x="8456102" y="3439487"/>
              <a:ext cx="3457663" cy="1505825"/>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s-ES" sz="1600" b="1" dirty="0" err="1"/>
                <a:t>RELACION</a:t>
              </a:r>
              <a:r>
                <a:rPr lang="es-ES" sz="1600" b="1" dirty="0"/>
                <a:t> CON CLIENTES</a:t>
              </a:r>
              <a:br>
                <a:rPr lang="es-ES" sz="1600" dirty="0"/>
              </a:br>
              <a:endParaRPr lang="es-ES" sz="1600" dirty="0"/>
            </a:p>
            <a:p>
              <a:pPr algn="ctr"/>
              <a:r>
                <a:rPr lang="es-ES" sz="1600" dirty="0"/>
                <a:t>Número de contacto, mail. Nada proactivo.</a:t>
              </a:r>
              <a:endParaRPr lang="es-419" sz="1600" dirty="0"/>
            </a:p>
          </p:txBody>
        </p:sp>
        <p:sp>
          <p:nvSpPr>
            <p:cNvPr id="6" name="Rectángulo 5">
              <a:extLst>
                <a:ext uri="{FF2B5EF4-FFF2-40B4-BE49-F238E27FC236}">
                  <a16:creationId xmlns:a16="http://schemas.microsoft.com/office/drawing/2014/main" id="{0C6B0E96-CF1A-3B26-BE1F-D4F7D445982C}"/>
                </a:ext>
              </a:extLst>
            </p:cNvPr>
            <p:cNvSpPr/>
            <p:nvPr/>
          </p:nvSpPr>
          <p:spPr>
            <a:xfrm>
              <a:off x="267049" y="3439487"/>
              <a:ext cx="2929157" cy="3185720"/>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s-ES" sz="1600" b="1" dirty="0"/>
                <a:t>FUENTES DE INGRESOS</a:t>
              </a:r>
              <a:br>
                <a:rPr lang="es-ES" sz="1600" dirty="0"/>
              </a:br>
              <a:endParaRPr lang="es-ES" sz="1600" dirty="0"/>
            </a:p>
            <a:p>
              <a:pPr algn="ctr"/>
              <a:r>
                <a:rPr lang="es-ES" sz="1600" dirty="0"/>
                <a:t>Venta de producto base,</a:t>
              </a:r>
            </a:p>
            <a:p>
              <a:pPr algn="ctr"/>
              <a:r>
                <a:rPr lang="es-ES" sz="1600" dirty="0"/>
                <a:t>Servicio de base de datos</a:t>
              </a:r>
              <a:endParaRPr lang="es-419" sz="1600" dirty="0"/>
            </a:p>
          </p:txBody>
        </p:sp>
        <p:sp>
          <p:nvSpPr>
            <p:cNvPr id="10" name="Rectángulo 9">
              <a:extLst>
                <a:ext uri="{FF2B5EF4-FFF2-40B4-BE49-F238E27FC236}">
                  <a16:creationId xmlns:a16="http://schemas.microsoft.com/office/drawing/2014/main" id="{B0C42D28-85AD-A250-A569-48CB3CCCE375}"/>
                </a:ext>
              </a:extLst>
            </p:cNvPr>
            <p:cNvSpPr/>
            <p:nvPr/>
          </p:nvSpPr>
          <p:spPr>
            <a:xfrm>
              <a:off x="3823982" y="1021364"/>
              <a:ext cx="3080157" cy="2208398"/>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s-ES" sz="1600" b="1" dirty="0"/>
                <a:t>ACTIVIDADES CLAVE</a:t>
              </a:r>
              <a:br>
                <a:rPr lang="es-ES" sz="1600" dirty="0"/>
              </a:br>
              <a:endParaRPr lang="es-ES" sz="1600" dirty="0"/>
            </a:p>
            <a:p>
              <a:pPr algn="ctr"/>
              <a:r>
                <a:rPr lang="es-ES" sz="1600" dirty="0"/>
                <a:t>Desarrollo de software,</a:t>
              </a:r>
            </a:p>
            <a:p>
              <a:pPr algn="ctr"/>
              <a:r>
                <a:rPr lang="es-ES" sz="1600" dirty="0"/>
                <a:t>Manutención de servidores,</a:t>
              </a:r>
            </a:p>
            <a:p>
              <a:pPr algn="ctr"/>
              <a:r>
                <a:rPr lang="es-ES" sz="1600" dirty="0"/>
                <a:t>Promoción de producto</a:t>
              </a:r>
            </a:p>
          </p:txBody>
        </p:sp>
        <p:sp>
          <p:nvSpPr>
            <p:cNvPr id="12" name="Rectángulo 11">
              <a:extLst>
                <a:ext uri="{FF2B5EF4-FFF2-40B4-BE49-F238E27FC236}">
                  <a16:creationId xmlns:a16="http://schemas.microsoft.com/office/drawing/2014/main" id="{884C0EA8-A65D-0077-DBD0-2FF0D9B1C365}"/>
                </a:ext>
              </a:extLst>
            </p:cNvPr>
            <p:cNvSpPr/>
            <p:nvPr/>
          </p:nvSpPr>
          <p:spPr>
            <a:xfrm>
              <a:off x="8456100" y="5119382"/>
              <a:ext cx="3457663" cy="1505825"/>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s-ES" sz="1600" b="1" dirty="0"/>
                <a:t>ALIANZAS CLAVE</a:t>
              </a:r>
              <a:br>
                <a:rPr lang="es-ES" sz="1600" dirty="0"/>
              </a:br>
              <a:endParaRPr lang="es-ES" sz="1600" dirty="0"/>
            </a:p>
            <a:p>
              <a:pPr algn="ctr"/>
              <a:r>
                <a:rPr lang="es-ES" sz="1600" dirty="0"/>
                <a:t>Promotores,</a:t>
              </a:r>
            </a:p>
            <a:p>
              <a:pPr algn="ctr"/>
              <a:r>
                <a:rPr lang="es-ES" sz="1600" dirty="0"/>
                <a:t>Empresas alojadas en los respectivos edificios</a:t>
              </a:r>
              <a:endParaRPr lang="es-419" sz="1600" dirty="0"/>
            </a:p>
          </p:txBody>
        </p:sp>
        <p:sp>
          <p:nvSpPr>
            <p:cNvPr id="13" name="Rectángulo 12">
              <a:extLst>
                <a:ext uri="{FF2B5EF4-FFF2-40B4-BE49-F238E27FC236}">
                  <a16:creationId xmlns:a16="http://schemas.microsoft.com/office/drawing/2014/main" id="{10CF1C93-8198-AB61-3994-1F3BE9AEFBF2}"/>
                </a:ext>
              </a:extLst>
            </p:cNvPr>
            <p:cNvSpPr/>
            <p:nvPr/>
          </p:nvSpPr>
          <p:spPr>
            <a:xfrm>
              <a:off x="7063530" y="1021364"/>
              <a:ext cx="2038526" cy="2208398"/>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s-ES" sz="1600" b="1" dirty="0"/>
                <a:t>RECURSOS CLAVE</a:t>
              </a:r>
              <a:br>
                <a:rPr lang="es-ES" sz="1600" dirty="0"/>
              </a:br>
              <a:br>
                <a:rPr lang="es-ES" sz="1600" dirty="0"/>
              </a:br>
              <a:r>
                <a:rPr lang="es-ES" sz="1600" dirty="0"/>
                <a:t>Software,</a:t>
              </a:r>
            </a:p>
            <a:p>
              <a:pPr algn="ctr"/>
              <a:r>
                <a:rPr lang="es-ES" sz="1600" dirty="0"/>
                <a:t>Servidores</a:t>
              </a:r>
              <a:endParaRPr lang="es-419" sz="1600" dirty="0"/>
            </a:p>
          </p:txBody>
        </p:sp>
        <p:sp>
          <p:nvSpPr>
            <p:cNvPr id="14" name="Rectángulo 13">
              <a:extLst>
                <a:ext uri="{FF2B5EF4-FFF2-40B4-BE49-F238E27FC236}">
                  <a16:creationId xmlns:a16="http://schemas.microsoft.com/office/drawing/2014/main" id="{95EF017F-C092-11F7-937C-26E2007BFE61}"/>
                </a:ext>
              </a:extLst>
            </p:cNvPr>
            <p:cNvSpPr/>
            <p:nvPr/>
          </p:nvSpPr>
          <p:spPr>
            <a:xfrm>
              <a:off x="9261448" y="1021364"/>
              <a:ext cx="2652316" cy="2208398"/>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s-ES" sz="1600" b="1" dirty="0"/>
                <a:t>ESTRUCTURA COSTOS</a:t>
              </a:r>
              <a:br>
                <a:rPr lang="es-ES" sz="1600" dirty="0"/>
              </a:br>
              <a:endParaRPr lang="es-ES" sz="1600" dirty="0"/>
            </a:p>
            <a:p>
              <a:pPr algn="ctr"/>
              <a:r>
                <a:rPr lang="es-ES" sz="1600" dirty="0"/>
                <a:t>Personal de desarrollo,</a:t>
              </a:r>
            </a:p>
            <a:p>
              <a:pPr algn="ctr"/>
              <a:r>
                <a:rPr lang="es-ES" sz="1600" dirty="0"/>
                <a:t>Manutención de servidores y promoción</a:t>
              </a:r>
            </a:p>
          </p:txBody>
        </p:sp>
      </p:grpSp>
      <p:sp>
        <p:nvSpPr>
          <p:cNvPr id="9" name="CuadroTexto 8">
            <a:extLst>
              <a:ext uri="{FF2B5EF4-FFF2-40B4-BE49-F238E27FC236}">
                <a16:creationId xmlns:a16="http://schemas.microsoft.com/office/drawing/2014/main" id="{8489C38A-B525-B61F-0808-AA8671E43E63}"/>
              </a:ext>
            </a:extLst>
          </p:cNvPr>
          <p:cNvSpPr txBox="1"/>
          <p:nvPr/>
        </p:nvSpPr>
        <p:spPr>
          <a:xfrm>
            <a:off x="220560" y="793505"/>
            <a:ext cx="11750879" cy="1077218"/>
          </a:xfrm>
          <a:prstGeom prst="rect">
            <a:avLst/>
          </a:prstGeom>
          <a:noFill/>
        </p:spPr>
        <p:txBody>
          <a:bodyPr wrap="square">
            <a:spAutoFit/>
          </a:bodyPr>
          <a:lstStyle/>
          <a:p>
            <a:r>
              <a:rPr lang="es-419" sz="1600" dirty="0"/>
              <a:t>Sistema de reserva de </a:t>
            </a:r>
            <a:r>
              <a:rPr lang="es-419" sz="1600" dirty="0" err="1"/>
              <a:t>garage</a:t>
            </a:r>
            <a:r>
              <a:rPr lang="es-419" sz="1600" dirty="0"/>
              <a:t>, orientado (pero no limitado) a edificios que alojen empresas. Las empresas podrán reservar x cantidad de espacios para sus empleados. El resto queda libre como </a:t>
            </a:r>
            <a:r>
              <a:rPr lang="es-419" sz="1600" dirty="0" err="1"/>
              <a:t>Garage</a:t>
            </a:r>
            <a:r>
              <a:rPr lang="es-419" sz="1600" dirty="0"/>
              <a:t> común (o no). Los cupos de cada empresa pueden ser por llegada o por reserva online. Pueden haber reservas fijas para ciertos empleados (ejecutivos, discapacitados, etc.). Sistema perfectamente aplicable a un edificio con </a:t>
            </a:r>
            <a:r>
              <a:rPr lang="es-419" sz="1600" dirty="0" err="1"/>
              <a:t>garage</a:t>
            </a:r>
            <a:r>
              <a:rPr lang="es-419" sz="1600" dirty="0"/>
              <a:t> común o a un </a:t>
            </a:r>
            <a:r>
              <a:rPr lang="es-419" sz="1600" dirty="0" err="1"/>
              <a:t>garage</a:t>
            </a:r>
            <a:r>
              <a:rPr lang="es-419" sz="1600" dirty="0"/>
              <a:t> independiente.</a:t>
            </a:r>
          </a:p>
        </p:txBody>
      </p:sp>
    </p:spTree>
    <p:extLst>
      <p:ext uri="{BB962C8B-B14F-4D97-AF65-F5344CB8AC3E}">
        <p14:creationId xmlns:p14="http://schemas.microsoft.com/office/powerpoint/2010/main" val="2940570723"/>
      </p:ext>
    </p:extLst>
  </p:cSld>
  <p:clrMapOvr>
    <a:masterClrMapping/>
  </p:clrMapOvr>
</p:sld>
</file>

<file path=ppt/theme/theme1.xml><?xml version="1.0" encoding="utf-8"?>
<a:theme xmlns:a="http://schemas.openxmlformats.org/drawingml/2006/main" name="Berlí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docProps/app.xml><?xml version="1.0" encoding="utf-8"?>
<Properties xmlns="http://schemas.openxmlformats.org/officeDocument/2006/extended-properties" xmlns:vt="http://schemas.openxmlformats.org/officeDocument/2006/docPropsVTypes">
  <Template>TM04033917[[fn=Berlín]]</Template>
  <TotalTime>140</TotalTime>
  <Words>618</Words>
  <Application>Microsoft Office PowerPoint</Application>
  <PresentationFormat>Panorámica</PresentationFormat>
  <Paragraphs>74</Paragraphs>
  <Slides>4</Slides>
  <Notes>0</Notes>
  <HiddenSlides>0</HiddenSlides>
  <MMClips>0</MMClips>
  <ScaleCrop>false</ScaleCrop>
  <HeadingPairs>
    <vt:vector size="6" baseType="variant">
      <vt:variant>
        <vt:lpstr>Fuentes usadas</vt:lpstr>
      </vt:variant>
      <vt:variant>
        <vt:i4>1</vt:i4>
      </vt:variant>
      <vt:variant>
        <vt:lpstr>Tema</vt:lpstr>
      </vt:variant>
      <vt:variant>
        <vt:i4>1</vt:i4>
      </vt:variant>
      <vt:variant>
        <vt:lpstr>Títulos de diapositiva</vt:lpstr>
      </vt:variant>
      <vt:variant>
        <vt:i4>4</vt:i4>
      </vt:variant>
    </vt:vector>
  </HeadingPairs>
  <TitlesOfParts>
    <vt:vector size="6" baseType="lpstr">
      <vt:lpstr>Arial</vt:lpstr>
      <vt:lpstr>Berlín</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Ezequiel Amorosino</dc:creator>
  <cp:lastModifiedBy>Ezequiel Amorosino</cp:lastModifiedBy>
  <cp:revision>65</cp:revision>
  <dcterms:created xsi:type="dcterms:W3CDTF">2024-04-23T14:10:04Z</dcterms:created>
  <dcterms:modified xsi:type="dcterms:W3CDTF">2024-05-29T06:19:17Z</dcterms:modified>
</cp:coreProperties>
</file>