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68" d="100"/>
          <a:sy n="68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8/6/2024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98058-D84A-0865-5AE9-6BFFD3CA3D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s-AR" dirty="0"/>
              <a:t>BUDGEE</a:t>
            </a:r>
            <a:endParaRPr lang="es-419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7EDC9F-8987-2948-453B-7E3751CA61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31784" y="2733709"/>
            <a:ext cx="1371600" cy="1380490"/>
          </a:xfrm>
          <a:prstGeom prst="rect">
            <a:avLst/>
          </a:prstGeom>
          <a:noFill/>
          <a:ln>
            <a:noFill/>
          </a:ln>
          <a:effectLst>
            <a:outerShdw blurRad="101600" dir="2700000" sx="104000" sy="104000" algn="tl" rotWithShape="0">
              <a:prstClr val="black">
                <a:alpha val="2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3931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E37969-3D47-1D97-A0B4-76D9FB203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EL PROBLEMA</a:t>
            </a:r>
            <a:endParaRPr lang="es-419" dirty="0"/>
          </a:p>
        </p:txBody>
      </p:sp>
      <p:pic>
        <p:nvPicPr>
          <p:cNvPr id="7" name="Gráfico 6" descr="Advertencia">
            <a:extLst>
              <a:ext uri="{FF2B5EF4-FFF2-40B4-BE49-F238E27FC236}">
                <a16:creationId xmlns:a16="http://schemas.microsoft.com/office/drawing/2014/main" id="{BDF3851E-3AB2-CA13-A766-5586B1FEA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31429" y="900637"/>
            <a:ext cx="786120" cy="786120"/>
          </a:xfrm>
          <a:prstGeom prst="rect">
            <a:avLst/>
          </a:prstGeom>
        </p:spPr>
      </p:pic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08905F5F-A61E-5D32-72B4-94003179C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30" y="2265849"/>
            <a:ext cx="11745157" cy="43125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419" dirty="0"/>
              <a:t>Según encuestas recientes, solo un 23% de las pymes consideran crucial la compra de software para mantener su empresa. Esto deja en claro que la mayoría se maneja, o sin sistema alguno, o con servicios enlatados que parcialmente cubren sus necesidades por un precio bajo o nulo.</a:t>
            </a:r>
          </a:p>
          <a:p>
            <a:pPr marL="0" indent="0">
              <a:buNone/>
            </a:pPr>
            <a:r>
              <a:rPr lang="es-419" dirty="0"/>
              <a:t>Por otro lado, una significativa parte de estas empresas, especialmente las más pequeñas, como por ejemplo verdulerías y kioscos, nisiquiera poseen un sistema propio con el cual manejarse. </a:t>
            </a:r>
          </a:p>
          <a:p>
            <a:pPr marL="0" indent="0">
              <a:buNone/>
            </a:pPr>
            <a:r>
              <a:rPr lang="es-419" dirty="0"/>
              <a:t>Esto en la mayoría de los casos resulta algo sumamente ineficiente y propenso a errores humanos. </a:t>
            </a:r>
          </a:p>
          <a:p>
            <a:pPr marL="0" indent="0">
              <a:buNone/>
            </a:pPr>
            <a:r>
              <a:rPr lang="es-419" dirty="0"/>
              <a:t>Entonces, al fin y al cabo, estas empresas están limitando su potencial a falta de una solución eficaz que se adapte a sus necesidades y presupuesto.</a:t>
            </a:r>
          </a:p>
        </p:txBody>
      </p:sp>
    </p:spTree>
    <p:extLst>
      <p:ext uri="{BB962C8B-B14F-4D97-AF65-F5344CB8AC3E}">
        <p14:creationId xmlns:p14="http://schemas.microsoft.com/office/powerpoint/2010/main" val="338822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E5F010-1B33-68FC-4CD4-7C71FDD56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LA </a:t>
            </a:r>
            <a:r>
              <a:rPr lang="es-AR" dirty="0" err="1"/>
              <a:t>SOLUCION</a:t>
            </a:r>
            <a:endParaRPr lang="es-419" dirty="0"/>
          </a:p>
        </p:txBody>
      </p:sp>
      <p:pic>
        <p:nvPicPr>
          <p:cNvPr id="4" name="Gráfico 3" descr="Bombilla y engranaje">
            <a:extLst>
              <a:ext uri="{FF2B5EF4-FFF2-40B4-BE49-F238E27FC236}">
                <a16:creationId xmlns:a16="http://schemas.microsoft.com/office/drawing/2014/main" id="{2069E48C-A929-28BC-67B9-F794D45248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67289" y="836497"/>
            <a:ext cx="914400" cy="914400"/>
          </a:xfrm>
          <a:prstGeom prst="rect">
            <a:avLst/>
          </a:prstGeom>
        </p:spPr>
      </p:pic>
      <p:sp>
        <p:nvSpPr>
          <p:cNvPr id="7" name="Marcador de contenido 8">
            <a:extLst>
              <a:ext uri="{FF2B5EF4-FFF2-40B4-BE49-F238E27FC236}">
                <a16:creationId xmlns:a16="http://schemas.microsoft.com/office/drawing/2014/main" id="{E2ED2563-F003-4890-9A89-C0174B9ACE39}"/>
              </a:ext>
            </a:extLst>
          </p:cNvPr>
          <p:cNvSpPr txBox="1">
            <a:spLocks/>
          </p:cNvSpPr>
          <p:nvPr/>
        </p:nvSpPr>
        <p:spPr>
          <a:xfrm>
            <a:off x="266330" y="2265849"/>
            <a:ext cx="11745157" cy="4312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419" sz="1800" dirty="0"/>
          </a:p>
        </p:txBody>
      </p:sp>
      <p:sp>
        <p:nvSpPr>
          <p:cNvPr id="8" name="Marcador de contenido 8">
            <a:extLst>
              <a:ext uri="{FF2B5EF4-FFF2-40B4-BE49-F238E27FC236}">
                <a16:creationId xmlns:a16="http://schemas.microsoft.com/office/drawing/2014/main" id="{E8DDEC0E-CB84-27E6-A5A1-F2C125F13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76" y="2249572"/>
            <a:ext cx="11745157" cy="441755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419" sz="2000" dirty="0"/>
              <a:t>¿Qué ofrecemos nosotros?</a:t>
            </a:r>
          </a:p>
          <a:p>
            <a:pPr marL="0" indent="0">
              <a:buNone/>
            </a:pPr>
            <a:r>
              <a:rPr lang="es-419" sz="2000" dirty="0"/>
              <a:t>Gestión de finanzas compleja y a medida, al alcance de cualquiera.</a:t>
            </a:r>
          </a:p>
          <a:p>
            <a:pPr marL="0" indent="0">
              <a:buNone/>
            </a:pPr>
            <a:r>
              <a:rPr lang="es-419" sz="2000" dirty="0"/>
              <a:t>Es decir, una alternativa accesible, de uso intuitivo y de alta calidad.</a:t>
            </a:r>
          </a:p>
          <a:p>
            <a:pPr marL="0" indent="0">
              <a:buNone/>
            </a:pPr>
            <a:r>
              <a:rPr lang="es-419" sz="2000" dirty="0"/>
              <a:t>Por ejemplo, ofrecemos un asistente virtual, que va a permitir consultas y dialogo, y responderá de forma efectiva e inteligente. La confección de sofisticadas variables dinámicas que podrán ser usadas en transacciones y presupuestos. Programación cíclica y eventual de transacciones y recordatorios. Acceso a una gran variedad de estadísticas con filtrado de alta complejidad.</a:t>
            </a:r>
          </a:p>
          <a:p>
            <a:pPr marL="0" indent="0">
              <a:buNone/>
            </a:pPr>
            <a:r>
              <a:rPr lang="es-419" sz="2000" dirty="0"/>
              <a:t>También </a:t>
            </a:r>
            <a:r>
              <a:rPr lang="es-419" sz="2000" dirty="0" err="1"/>
              <a:t>porporcionamos</a:t>
            </a:r>
            <a:r>
              <a:rPr lang="es-419" sz="2000" dirty="0"/>
              <a:t> un servicio de asesoría en finanzas, para aquellas empresas que no están tan convencidas, ya que no saben si van a poder sacarle el máximo provecho a la aplicación. </a:t>
            </a:r>
            <a:br>
              <a:rPr lang="es-419" sz="2000" dirty="0"/>
            </a:br>
            <a:r>
              <a:rPr lang="es-419" sz="2000" dirty="0"/>
              <a:t>Como decimos, la mayoría de estas empresas se maneja con herramientas genéricas, y terminan adaptando sus necesidades a las mismas, y no al revés.</a:t>
            </a:r>
          </a:p>
          <a:p>
            <a:pPr marL="0" indent="0">
              <a:buNone/>
            </a:pPr>
            <a:r>
              <a:rPr lang="es-419" sz="2000" dirty="0"/>
              <a:t>Por otro lado, y en relación a esto último, adicionalmente ofrecemos soporte al cliente en lo que se refiere al uso propio de la aplicación, sacando de lado los manuales y documentación que ya la acompañan.</a:t>
            </a:r>
          </a:p>
        </p:txBody>
      </p:sp>
    </p:spTree>
    <p:extLst>
      <p:ext uri="{BB962C8B-B14F-4D97-AF65-F5344CB8AC3E}">
        <p14:creationId xmlns:p14="http://schemas.microsoft.com/office/powerpoint/2010/main" val="355617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D4B514-5B21-C8BF-BDB6-DEBD287BC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EL MEDIO</a:t>
            </a:r>
            <a:endParaRPr lang="es-419" dirty="0"/>
          </a:p>
        </p:txBody>
      </p:sp>
      <p:pic>
        <p:nvPicPr>
          <p:cNvPr id="4" name="Gráfico 3" descr="Engranajes">
            <a:extLst>
              <a:ext uri="{FF2B5EF4-FFF2-40B4-BE49-F238E27FC236}">
                <a16:creationId xmlns:a16="http://schemas.microsoft.com/office/drawing/2014/main" id="{557941B6-45D4-958F-C72D-89AD17135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47538" y="816746"/>
            <a:ext cx="953902" cy="953902"/>
          </a:xfrm>
          <a:prstGeom prst="rect">
            <a:avLst/>
          </a:prstGeom>
        </p:spPr>
      </p:pic>
      <p:sp>
        <p:nvSpPr>
          <p:cNvPr id="5" name="Marcador de contenido 8">
            <a:extLst>
              <a:ext uri="{FF2B5EF4-FFF2-40B4-BE49-F238E27FC236}">
                <a16:creationId xmlns:a16="http://schemas.microsoft.com/office/drawing/2014/main" id="{509F585E-061B-3CE3-4112-1ED51CF39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330" y="2265849"/>
            <a:ext cx="11745157" cy="43125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419" dirty="0"/>
              <a:t>La solución se ofrecerá a través de nuestro software Budgee, que va a estar disponible tanto para la web, otra versión ajustada al celular desde la misma web, y la versión de escritorio que permitirá, pero no se limitará, al uso sin acceso a red.</a:t>
            </a:r>
          </a:p>
          <a:p>
            <a:pPr marL="0" indent="0">
              <a:buNone/>
            </a:pPr>
            <a:r>
              <a:rPr lang="es-419" dirty="0"/>
              <a:t>¿Cómo vamos a llegar a nuestros clientes?</a:t>
            </a:r>
          </a:p>
          <a:p>
            <a:pPr marL="0" indent="0">
              <a:buNone/>
            </a:pPr>
            <a:r>
              <a:rPr lang="es-419" dirty="0"/>
              <a:t>Ya con un perfil de cliente definido, en el cual estimamos un mercado meta de 6000 empresas, vamos a realizar una promoción puerta a puerta, en búsqueda de estos clientes potenciales, al igual que la constitución de redes sociales tales como Facebook, Instagram, TikTok y Reddit para potenciar todavía más la promoción. </a:t>
            </a:r>
          </a:p>
          <a:p>
            <a:pPr marL="0" indent="0">
              <a:buNone/>
            </a:pPr>
            <a:r>
              <a:rPr lang="es-419" dirty="0"/>
              <a:t>Por otro lado, también se ofrecerá un free trial de 30 días, que les va a permitir familiarizarse con la aplicación y quitar así dudas o inseguridades que la clientela pueda presentar.</a:t>
            </a:r>
          </a:p>
        </p:txBody>
      </p:sp>
    </p:spTree>
    <p:extLst>
      <p:ext uri="{BB962C8B-B14F-4D97-AF65-F5344CB8AC3E}">
        <p14:creationId xmlns:p14="http://schemas.microsoft.com/office/powerpoint/2010/main" val="640408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DE70-E1B6-44DB-AFC7-DBF6DD2AF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AREA DE INTERES</a:t>
            </a:r>
            <a:endParaRPr lang="es-A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B3284A-7C5F-47DA-9FD4-F8E51406DE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023" y="2285998"/>
            <a:ext cx="4219954" cy="43680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6" name="Gráfico 3" descr="Marker with solid fill">
            <a:extLst>
              <a:ext uri="{FF2B5EF4-FFF2-40B4-BE49-F238E27FC236}">
                <a16:creationId xmlns:a16="http://schemas.microsoft.com/office/drawing/2014/main" id="{E4B7B057-4F99-415F-B897-622EDF97BA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947538" y="816746"/>
            <a:ext cx="953902" cy="953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347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C27E1-31F3-3BE5-4829-12A4D1D81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LOS RECURSOS</a:t>
            </a:r>
            <a:endParaRPr lang="es-419" dirty="0"/>
          </a:p>
        </p:txBody>
      </p:sp>
      <p:pic>
        <p:nvPicPr>
          <p:cNvPr id="4" name="Gráfico 3" descr="Pirámide con niveles">
            <a:extLst>
              <a:ext uri="{FF2B5EF4-FFF2-40B4-BE49-F238E27FC236}">
                <a16:creationId xmlns:a16="http://schemas.microsoft.com/office/drawing/2014/main" id="{EBE6651E-5A65-F3C4-3D48-3C6C3BD66D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967289" y="836497"/>
            <a:ext cx="914400" cy="914400"/>
          </a:xfrm>
          <a:prstGeom prst="rect">
            <a:avLst/>
          </a:prstGeom>
        </p:spPr>
      </p:pic>
      <p:sp>
        <p:nvSpPr>
          <p:cNvPr id="5" name="Marcador de contenido 8">
            <a:extLst>
              <a:ext uri="{FF2B5EF4-FFF2-40B4-BE49-F238E27FC236}">
                <a16:creationId xmlns:a16="http://schemas.microsoft.com/office/drawing/2014/main" id="{07A99910-427D-2E10-2EA4-E63B91E979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98" y="2185947"/>
            <a:ext cx="11851689" cy="45078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000" dirty="0"/>
              <a:t>¿Qué necesitamos para llevar esto a cabo?</a:t>
            </a:r>
          </a:p>
          <a:p>
            <a:pPr marL="0" indent="0">
              <a:buNone/>
            </a:pPr>
            <a:r>
              <a:rPr lang="es-419" sz="2000" dirty="0"/>
              <a:t>Bueno, de números todavía no vamos a hablar, pero podemos decir que la inversión necesaria va a ser accesible, definitivamente no descabellada.</a:t>
            </a:r>
          </a:p>
          <a:p>
            <a:pPr marL="0" indent="0">
              <a:buNone/>
            </a:pPr>
            <a:r>
              <a:rPr lang="es-419" sz="2000" dirty="0"/>
              <a:t>Pero de lo que sí vamos a hablar, es de el resto de los elementos que vamos a tener que obtener o construir.</a:t>
            </a:r>
          </a:p>
          <a:p>
            <a:pPr marL="0" indent="0">
              <a:buNone/>
            </a:pPr>
            <a:r>
              <a:rPr lang="es-419" sz="2000" dirty="0"/>
              <a:t>El software ya está en vías de desarrollo, bastante avanzado, por lo que se espera una incertidumbre baja en la estimación del tiempo restante.</a:t>
            </a:r>
          </a:p>
          <a:p>
            <a:pPr marL="0" indent="0">
              <a:buNone/>
            </a:pPr>
            <a:r>
              <a:rPr lang="es-419" sz="2000" dirty="0"/>
              <a:t>Vamos a necesitar conseguir y levantar los servidores para cuando tengamos el desarrollo web terminado, que será más o menos en el </a:t>
            </a:r>
            <a:r>
              <a:rPr lang="es-419" sz="2000" dirty="0" err="1"/>
              <a:t>6to</a:t>
            </a:r>
            <a:r>
              <a:rPr lang="es-419" sz="2000" dirty="0"/>
              <a:t> mes del lapso temporal.</a:t>
            </a:r>
          </a:p>
          <a:p>
            <a:pPr marL="0" indent="0">
              <a:buNone/>
            </a:pPr>
            <a:r>
              <a:rPr lang="es-419" sz="2000" dirty="0"/>
              <a:t>Y vamos a arrancar con un equipo relativamente pequeño de 5 integrantes, que pensamos extender a 22 al finalizar nuestro lapso temporal, de acá a 2 años.</a:t>
            </a:r>
          </a:p>
          <a:p>
            <a:pPr marL="0" indent="0">
              <a:buNone/>
            </a:pPr>
            <a:r>
              <a:rPr lang="es-419" sz="2000" dirty="0"/>
              <a:t>Yo voy a tomar el rol gerencial y de recursos humanos en un principio, y voy a contratar 2 chicos para tecnología y 2 para marketing.</a:t>
            </a:r>
          </a:p>
        </p:txBody>
      </p:sp>
    </p:spTree>
    <p:extLst>
      <p:ext uri="{BB962C8B-B14F-4D97-AF65-F5344CB8AC3E}">
        <p14:creationId xmlns:p14="http://schemas.microsoft.com/office/powerpoint/2010/main" val="1292549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98058-D84A-0865-5AE9-6BFFD3CA3DA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s-AR" sz="4800" dirty="0"/>
              <a:t>¡GRACIAS POR ESCUCHAR!</a:t>
            </a:r>
            <a:endParaRPr lang="es-419" sz="4800" dirty="0"/>
          </a:p>
        </p:txBody>
      </p:sp>
      <p:pic>
        <p:nvPicPr>
          <p:cNvPr id="4" name="Imagen 3" descr="Apretón de manos">
            <a:extLst>
              <a:ext uri="{FF2B5EF4-FFF2-40B4-BE49-F238E27FC236}">
                <a16:creationId xmlns:a16="http://schemas.microsoft.com/office/drawing/2014/main" id="{8F7EDC9F-8987-2948-453B-7E3751CA6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 bwMode="auto">
          <a:xfrm>
            <a:off x="9448799" y="2609295"/>
            <a:ext cx="1639410" cy="1639410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806182402"/>
      </p:ext>
    </p:extLst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{0E0E3EDC-9F9A-4BF4-8DFA-7AA2A6DCDF13}tf04033917</Template>
  <TotalTime>212</TotalTime>
  <Words>674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Trebuchet MS</vt:lpstr>
      <vt:lpstr>Berlín</vt:lpstr>
      <vt:lpstr>BUDGEE</vt:lpstr>
      <vt:lpstr>EL PROBLEMA</vt:lpstr>
      <vt:lpstr>LA SOLUCION</vt:lpstr>
      <vt:lpstr>EL MEDIO</vt:lpstr>
      <vt:lpstr>AREA DE INTERES</vt:lpstr>
      <vt:lpstr>LOS RECURSOS</vt:lpstr>
      <vt:lpstr>¡GRACIAS POR ESCUCHAR!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BUDGEE</dc:title>
  <dc:creator>Ezequiel Amorosino</dc:creator>
  <cp:lastModifiedBy>Ezequiel Amorosino</cp:lastModifiedBy>
  <cp:revision>40</cp:revision>
  <dcterms:created xsi:type="dcterms:W3CDTF">2024-08-02T22:50:08Z</dcterms:created>
  <dcterms:modified xsi:type="dcterms:W3CDTF">2024-08-06T23:47:36Z</dcterms:modified>
</cp:coreProperties>
</file>